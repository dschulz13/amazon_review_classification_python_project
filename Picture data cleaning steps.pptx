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2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>
        <p:scale>
          <a:sx n="40" d="100"/>
          <a:sy n="40" d="100"/>
        </p:scale>
        <p:origin x="2318" y="89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21ECE4C-84BD-ED2D-24C8-5EAA1AB7140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434ABFA4-1F87-52BD-D4F2-9BD9B46297D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A1A4A419-B30F-5582-A537-20D335F0D6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167C61-B40F-4164-B4A6-0BBC753DBCA2}" type="datetimeFigureOut">
              <a:rPr lang="de-DE" smtClean="0"/>
              <a:t>26.10.2026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1CCFC05A-A6FC-C162-1235-5F5CA7A60C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C1C26594-C235-70A6-B384-732957F027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523CC8-6B08-4A21-B9DD-AB49E6E27DCE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8317103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780FE3F-4C6F-5B3C-E667-8475788111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52D2BF22-DE73-06FF-0682-D92E1589CA3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8B355791-3DF3-75CA-6EF5-4F1640E9DD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167C61-B40F-4164-B4A6-0BBC753DBCA2}" type="datetimeFigureOut">
              <a:rPr lang="de-DE" smtClean="0"/>
              <a:t>26.10.2026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E1F5AD1E-A780-C89D-072A-A8F401CD27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680D97D7-22F2-4F26-D93E-40D2B1CA4F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523CC8-6B08-4A21-B9DD-AB49E6E27DCE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01715069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8C651FB-A065-165D-5E0B-D36F671F23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274848AD-8260-21DE-D750-F45737C2516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8C1DCD32-4B19-FB74-8534-E50A917057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167C61-B40F-4164-B4A6-0BBC753DBCA2}" type="datetimeFigureOut">
              <a:rPr lang="de-DE" smtClean="0"/>
              <a:t>26.10.2026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AE376625-331E-D0F1-7C0F-72A84721F5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A5B8E566-C7CC-246C-66D1-9AF1F8D2A9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523CC8-6B08-4A21-B9DD-AB49E6E27DCE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56204052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FEE10D3-FE20-38F1-D851-D9B7F888A4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D7C732D8-5CB1-98EB-6045-597B5691FEF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E8AD63BE-2B1D-31C0-6CD0-22CB0298FC8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A8952494-FF66-1460-84D5-AF265F8AD8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167C61-B40F-4164-B4A6-0BBC753DBCA2}" type="datetimeFigureOut">
              <a:rPr lang="de-DE" smtClean="0"/>
              <a:t>26.10.2026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DCE4C86D-3302-F0FE-80DC-A95207A40E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2845995B-57C5-2AC7-1CF1-1EC469DBBA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523CC8-6B08-4A21-B9DD-AB49E6E27DCE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062627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3E8073B-B5E5-E637-7CDF-8A2896624E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99AC1A09-6D11-BD65-593F-78B6A70CA0E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CCA7AC92-C4DF-87D0-B9D5-5D1F9B46E72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7208AB22-232D-B200-936B-3DA5F0EDF2D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E2E6CA92-F4E7-AD0D-BDB9-81035016F59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258F7C0D-46AD-E879-1344-CC3C73D48A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167C61-B40F-4164-B4A6-0BBC753DBCA2}" type="datetimeFigureOut">
              <a:rPr lang="de-DE" smtClean="0"/>
              <a:t>26.10.2026</a:t>
            </a:fld>
            <a:endParaRPr lang="de-DE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281B5575-E445-16D5-7477-595852E74A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D1E3DC84-9B25-D045-24D8-200EC679C9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523CC8-6B08-4A21-B9DD-AB49E6E27DCE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67304690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B41430A-A120-FAA6-C129-6A88F3E2A5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F5B720A7-1587-EB4D-E90A-07775008D9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167C61-B40F-4164-B4A6-0BBC753DBCA2}" type="datetimeFigureOut">
              <a:rPr lang="de-DE" smtClean="0"/>
              <a:t>26.10.2026</a:t>
            </a:fld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7BADC45F-6FF9-B439-0574-836892259D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C41D7A30-4E90-8A11-E8E9-AB0C31D8F5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523CC8-6B08-4A21-B9DD-AB49E6E27DCE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81639723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43C55EA4-E140-9802-BBEA-B550ECCD47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167C61-B40F-4164-B4A6-0BBC753DBCA2}" type="datetimeFigureOut">
              <a:rPr lang="de-DE" smtClean="0"/>
              <a:t>26.10.2026</a:t>
            </a:fld>
            <a:endParaRPr lang="de-DE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CAEDD841-D0AB-B3DD-85DA-7BFC0DB643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43A8F01D-8939-7D69-EE9E-0471DB22AF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523CC8-6B08-4A21-B9DD-AB49E6E27DCE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0169012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E5EFE74-CBD5-2802-A283-8AB2436DE2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15FF4F24-EAF2-21F5-7A40-B3CADB81900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B2D8D3FE-207F-3CE7-19EF-FD1534F6E84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DA1A835B-F0D6-E8A0-39AC-5C36CB2D33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167C61-B40F-4164-B4A6-0BBC753DBCA2}" type="datetimeFigureOut">
              <a:rPr lang="de-DE" smtClean="0"/>
              <a:t>26.10.2026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F4FC5694-473F-33FB-EF93-AC8897CD28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CE704589-B90C-DD86-0056-0DFAA294BF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523CC8-6B08-4A21-B9DD-AB49E6E27DCE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39792496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3C95F51-45FE-9D0A-2810-6E86818A23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Bildplatzhalter 2">
            <a:extLst>
              <a:ext uri="{FF2B5EF4-FFF2-40B4-BE49-F238E27FC236}">
                <a16:creationId xmlns:a16="http://schemas.microsoft.com/office/drawing/2014/main" id="{47E5ACD8-8FBF-CBF4-8B53-B49CADB2EE6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e-DE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F60C5648-FE07-AF11-A414-562F2E19989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C249E9C9-D070-21AD-B8C9-F7751269A3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167C61-B40F-4164-B4A6-0BBC753DBCA2}" type="datetimeFigureOut">
              <a:rPr lang="de-DE" smtClean="0"/>
              <a:t>26.10.2026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6BDFA203-1EC5-1179-8A12-B8BDD0CCC7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01B6FFF0-557B-08DF-EA9B-BAE6239AB5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523CC8-6B08-4A21-B9DD-AB49E6E27DCE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08230970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AE57E35-873F-36EB-4CA5-DB66D50C44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A8CB6ED1-D55B-B375-5084-3B619587D9B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4A4428D5-5545-BA04-A77D-BB567FA0C7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167C61-B40F-4164-B4A6-0BBC753DBCA2}" type="datetimeFigureOut">
              <a:rPr lang="de-DE" smtClean="0"/>
              <a:t>26.10.2026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06F130FE-4B73-F2E2-AE67-CE4020A5BC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B1E207EE-7D61-2C19-C667-A2DB8AEB53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523CC8-6B08-4A21-B9DD-AB49E6E27DCE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01111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>
            <a:extLst>
              <a:ext uri="{FF2B5EF4-FFF2-40B4-BE49-F238E27FC236}">
                <a16:creationId xmlns:a16="http://schemas.microsoft.com/office/drawing/2014/main" id="{DE8CC8D2-66D7-4AFA-D303-D607509C601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38A4C1D0-6208-A4A4-B3FE-78E0B3C5237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FBEECBA3-25D9-FA0C-D50B-678E965971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167C61-B40F-4164-B4A6-0BBC753DBCA2}" type="datetimeFigureOut">
              <a:rPr lang="de-DE" smtClean="0"/>
              <a:t>26.10.2026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AED25150-11FB-C770-27DE-ACFC38AB9B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0AF55BEA-3D23-5966-4077-11D0B5E657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523CC8-6B08-4A21-B9DD-AB49E6E27DCE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79023978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4E2BE428-DC24-D7B8-840B-15D1382C30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AD606A83-4FE9-962A-1E3F-4A43C8406B1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D0B7DE10-F05F-A9F0-23A7-6D91E63F5F3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7167C61-B40F-4164-B4A6-0BBC753DBCA2}" type="datetimeFigureOut">
              <a:rPr lang="de-DE" smtClean="0"/>
              <a:t>26.10.2026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AB621C97-54F6-06F1-7363-A507C21872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63BB68DE-8BE1-DBF8-C4A6-EC7B419951D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B523CC8-6B08-4A21-B9DD-AB49E6E27DCE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17147079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B1D4D9-15CE-5C13-0928-943B3D2CA3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uppieren 1">
            <a:extLst>
              <a:ext uri="{FF2B5EF4-FFF2-40B4-BE49-F238E27FC236}">
                <a16:creationId xmlns:a16="http://schemas.microsoft.com/office/drawing/2014/main" id="{74BF453A-0ECF-2B94-A7A2-5E441CAE2EAE}"/>
              </a:ext>
            </a:extLst>
          </p:cNvPr>
          <p:cNvGrpSpPr/>
          <p:nvPr/>
        </p:nvGrpSpPr>
        <p:grpSpPr>
          <a:xfrm>
            <a:off x="768485" y="-1632898"/>
            <a:ext cx="6270482" cy="10069233"/>
            <a:chOff x="768485" y="-1632898"/>
            <a:chExt cx="6270482" cy="10069233"/>
          </a:xfrm>
        </p:grpSpPr>
        <p:grpSp>
          <p:nvGrpSpPr>
            <p:cNvPr id="10" name="Gruppieren 9">
              <a:extLst>
                <a:ext uri="{FF2B5EF4-FFF2-40B4-BE49-F238E27FC236}">
                  <a16:creationId xmlns:a16="http://schemas.microsoft.com/office/drawing/2014/main" id="{7A3AF09C-7050-DF2E-1818-6DD91E40EB9A}"/>
                </a:ext>
              </a:extLst>
            </p:cNvPr>
            <p:cNvGrpSpPr/>
            <p:nvPr/>
          </p:nvGrpSpPr>
          <p:grpSpPr>
            <a:xfrm>
              <a:off x="768485" y="-1632898"/>
              <a:ext cx="6270482" cy="593388"/>
              <a:chOff x="768485" y="291829"/>
              <a:chExt cx="2227633" cy="593388"/>
            </a:xfrm>
            <a:solidFill>
              <a:schemeClr val="accent1">
                <a:lumMod val="20000"/>
                <a:lumOff val="80000"/>
              </a:schemeClr>
            </a:solidFill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grpSpPr>
          <p:sp>
            <p:nvSpPr>
              <p:cNvPr id="11" name="Rechteck 10">
                <a:extLst>
                  <a:ext uri="{FF2B5EF4-FFF2-40B4-BE49-F238E27FC236}">
                    <a16:creationId xmlns:a16="http://schemas.microsoft.com/office/drawing/2014/main" id="{C8D8E736-A8EE-0B76-DF6D-24068E71DB80}"/>
                  </a:ext>
                </a:extLst>
              </p:cNvPr>
              <p:cNvSpPr/>
              <p:nvPr/>
            </p:nvSpPr>
            <p:spPr>
              <a:xfrm>
                <a:off x="768485" y="291830"/>
                <a:ext cx="515566" cy="593387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de-DE" b="1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I.</a:t>
                </a:r>
              </a:p>
            </p:txBody>
          </p:sp>
          <p:sp>
            <p:nvSpPr>
              <p:cNvPr id="12" name="Rechteck 11">
                <a:extLst>
                  <a:ext uri="{FF2B5EF4-FFF2-40B4-BE49-F238E27FC236}">
                    <a16:creationId xmlns:a16="http://schemas.microsoft.com/office/drawing/2014/main" id="{A33C78BB-F5B6-99B7-4CEC-66FB2A0DB5DD}"/>
                  </a:ext>
                </a:extLst>
              </p:cNvPr>
              <p:cNvSpPr/>
              <p:nvPr/>
            </p:nvSpPr>
            <p:spPr>
              <a:xfrm>
                <a:off x="1269459" y="291829"/>
                <a:ext cx="1726659" cy="593387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de-DE" dirty="0">
                    <a:solidFill>
                      <a:schemeClr val="tx1"/>
                    </a:solidFill>
                    <a:cs typeface="Times New Roman" panose="02020603050405020304" pitchFamily="18" charset="0"/>
                  </a:rPr>
                  <a:t>Join review </a:t>
                </a:r>
                <a:r>
                  <a:rPr lang="de-DE" dirty="0" err="1">
                    <a:solidFill>
                      <a:schemeClr val="tx1"/>
                    </a:solidFill>
                    <a:cs typeface="Times New Roman" panose="02020603050405020304" pitchFamily="18" charset="0"/>
                  </a:rPr>
                  <a:t>titles</a:t>
                </a:r>
                <a:r>
                  <a:rPr lang="de-DE" dirty="0">
                    <a:solidFill>
                      <a:schemeClr val="tx1"/>
                    </a:solidFill>
                    <a:cs typeface="Times New Roman" panose="02020603050405020304" pitchFamily="18" charset="0"/>
                  </a:rPr>
                  <a:t> and </a:t>
                </a:r>
                <a:r>
                  <a:rPr lang="de-DE" dirty="0" err="1">
                    <a:solidFill>
                      <a:schemeClr val="tx1"/>
                    </a:solidFill>
                    <a:cs typeface="Times New Roman" panose="02020603050405020304" pitchFamily="18" charset="0"/>
                  </a:rPr>
                  <a:t>sentences</a:t>
                </a:r>
                <a:endParaRPr lang="de-DE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p:grpSp>
        <p:grpSp>
          <p:nvGrpSpPr>
            <p:cNvPr id="14" name="Gruppieren 13">
              <a:extLst>
                <a:ext uri="{FF2B5EF4-FFF2-40B4-BE49-F238E27FC236}">
                  <a16:creationId xmlns:a16="http://schemas.microsoft.com/office/drawing/2014/main" id="{2820B575-384F-10A5-3AB5-88406A760A38}"/>
                </a:ext>
              </a:extLst>
            </p:cNvPr>
            <p:cNvGrpSpPr/>
            <p:nvPr/>
          </p:nvGrpSpPr>
          <p:grpSpPr>
            <a:xfrm>
              <a:off x="768485" y="-888750"/>
              <a:ext cx="6270482" cy="724714"/>
              <a:chOff x="768485" y="291829"/>
              <a:chExt cx="2227633" cy="593388"/>
            </a:xfrm>
            <a:solidFill>
              <a:schemeClr val="accent1">
                <a:lumMod val="20000"/>
                <a:lumOff val="80000"/>
              </a:schemeClr>
            </a:solidFill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grpSpPr>
          <p:sp>
            <p:nvSpPr>
              <p:cNvPr id="15" name="Rechteck 14">
                <a:extLst>
                  <a:ext uri="{FF2B5EF4-FFF2-40B4-BE49-F238E27FC236}">
                    <a16:creationId xmlns:a16="http://schemas.microsoft.com/office/drawing/2014/main" id="{871509AC-9ABD-BD68-087A-7FCB2C780808}"/>
                  </a:ext>
                </a:extLst>
              </p:cNvPr>
              <p:cNvSpPr/>
              <p:nvPr/>
            </p:nvSpPr>
            <p:spPr>
              <a:xfrm>
                <a:off x="768485" y="291830"/>
                <a:ext cx="515566" cy="593387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de-DE" b="1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II.</a:t>
                </a:r>
              </a:p>
            </p:txBody>
          </p:sp>
          <p:sp>
            <p:nvSpPr>
              <p:cNvPr id="16" name="Rechteck 15">
                <a:extLst>
                  <a:ext uri="{FF2B5EF4-FFF2-40B4-BE49-F238E27FC236}">
                    <a16:creationId xmlns:a16="http://schemas.microsoft.com/office/drawing/2014/main" id="{642769CD-B186-FF93-F512-2BBC30C79D17}"/>
                  </a:ext>
                </a:extLst>
              </p:cNvPr>
              <p:cNvSpPr/>
              <p:nvPr/>
            </p:nvSpPr>
            <p:spPr>
              <a:xfrm>
                <a:off x="1269459" y="291829"/>
                <a:ext cx="1726659" cy="593387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de-DE" dirty="0">
                    <a:solidFill>
                      <a:schemeClr val="tx1"/>
                    </a:solidFill>
                    <a:cs typeface="Times New Roman" panose="02020603050405020304" pitchFamily="18" charset="0"/>
                  </a:rPr>
                  <a:t>Replace </a:t>
                </a:r>
                <a:r>
                  <a:rPr lang="de-DE" dirty="0" err="1">
                    <a:solidFill>
                      <a:schemeClr val="tx1"/>
                    </a:solidFill>
                    <a:cs typeface="Times New Roman" panose="02020603050405020304" pitchFamily="18" charset="0"/>
                  </a:rPr>
                  <a:t>emojis</a:t>
                </a:r>
                <a:r>
                  <a:rPr lang="de-DE" dirty="0">
                    <a:solidFill>
                      <a:schemeClr val="tx1"/>
                    </a:solidFill>
                    <a:cs typeface="Times New Roman" panose="02020603050405020304" pitchFamily="18" charset="0"/>
                  </a:rPr>
                  <a:t> by </a:t>
                </a:r>
                <a:r>
                  <a:rPr lang="de-DE" dirty="0" err="1">
                    <a:solidFill>
                      <a:schemeClr val="tx1"/>
                    </a:solidFill>
                    <a:cs typeface="Times New Roman" panose="02020603050405020304" pitchFamily="18" charset="0"/>
                  </a:rPr>
                  <a:t>special</a:t>
                </a:r>
                <a:r>
                  <a:rPr lang="de-DE" dirty="0">
                    <a:solidFill>
                      <a:schemeClr val="tx1"/>
                    </a:solidFill>
                    <a:cs typeface="Times New Roman" panose="02020603050405020304" pitchFamily="18" charset="0"/>
                  </a:rPr>
                  <a:t> </a:t>
                </a:r>
                <a:r>
                  <a:rPr lang="de-DE" dirty="0" err="1">
                    <a:solidFill>
                      <a:schemeClr val="tx1"/>
                    </a:solidFill>
                    <a:cs typeface="Times New Roman" panose="02020603050405020304" pitchFamily="18" charset="0"/>
                  </a:rPr>
                  <a:t>keywords</a:t>
                </a:r>
                <a:endParaRPr lang="de-DE" dirty="0">
                  <a:solidFill>
                    <a:schemeClr val="tx1"/>
                  </a:solidFill>
                  <a:cs typeface="Times New Roman" panose="02020603050405020304" pitchFamily="18" charset="0"/>
                </a:endParaRPr>
              </a:p>
              <a:p>
                <a:r>
                  <a:rPr lang="de-DE" sz="1400" dirty="0">
                    <a:solidFill>
                      <a:schemeClr val="tx1"/>
                    </a:solidFill>
                    <a:cs typeface="Times New Roman" panose="02020603050405020304" pitchFamily="18" charset="0"/>
                  </a:rPr>
                  <a:t>Example: </a:t>
                </a:r>
                <a:r>
                  <a:rPr lang="de-DE" sz="1400" dirty="0"/>
                  <a:t>👍 </a:t>
                </a:r>
                <a:r>
                  <a:rPr lang="de-DE" sz="1400" dirty="0">
                    <a:solidFill>
                      <a:schemeClr val="tx1"/>
                    </a:solidFill>
                  </a:rPr>
                  <a:t>→ :</a:t>
                </a:r>
                <a:r>
                  <a:rPr lang="de-DE" sz="1400" dirty="0" err="1">
                    <a:solidFill>
                      <a:schemeClr val="tx1"/>
                    </a:solidFill>
                  </a:rPr>
                  <a:t>thumbs_up</a:t>
                </a:r>
                <a:r>
                  <a:rPr lang="de-DE" sz="1400" dirty="0">
                    <a:solidFill>
                      <a:schemeClr val="tx1"/>
                    </a:solidFill>
                  </a:rPr>
                  <a:t>:</a:t>
                </a:r>
                <a:endParaRPr lang="de-DE" sz="1400" dirty="0">
                  <a:solidFill>
                    <a:schemeClr val="tx1"/>
                  </a:solidFill>
                  <a:cs typeface="Times New Roman" panose="02020603050405020304" pitchFamily="18" charset="0"/>
                </a:endParaRPr>
              </a:p>
            </p:txBody>
          </p:sp>
        </p:grpSp>
        <p:grpSp>
          <p:nvGrpSpPr>
            <p:cNvPr id="17" name="Gruppieren 16">
              <a:extLst>
                <a:ext uri="{FF2B5EF4-FFF2-40B4-BE49-F238E27FC236}">
                  <a16:creationId xmlns:a16="http://schemas.microsoft.com/office/drawing/2014/main" id="{0A241F16-68F1-7C61-5422-F1894F3A9590}"/>
                </a:ext>
              </a:extLst>
            </p:cNvPr>
            <p:cNvGrpSpPr/>
            <p:nvPr/>
          </p:nvGrpSpPr>
          <p:grpSpPr>
            <a:xfrm>
              <a:off x="768485" y="-13277"/>
              <a:ext cx="6270482" cy="724713"/>
              <a:chOff x="768485" y="291829"/>
              <a:chExt cx="2227633" cy="593388"/>
            </a:xfrm>
            <a:solidFill>
              <a:schemeClr val="accent1">
                <a:lumMod val="20000"/>
                <a:lumOff val="80000"/>
              </a:schemeClr>
            </a:solidFill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grpSpPr>
          <p:sp>
            <p:nvSpPr>
              <p:cNvPr id="18" name="Rechteck 17">
                <a:extLst>
                  <a:ext uri="{FF2B5EF4-FFF2-40B4-BE49-F238E27FC236}">
                    <a16:creationId xmlns:a16="http://schemas.microsoft.com/office/drawing/2014/main" id="{D118D5F9-8889-F10F-E45B-B25A2F0AF80F}"/>
                  </a:ext>
                </a:extLst>
              </p:cNvPr>
              <p:cNvSpPr/>
              <p:nvPr/>
            </p:nvSpPr>
            <p:spPr>
              <a:xfrm>
                <a:off x="768485" y="291830"/>
                <a:ext cx="515566" cy="593387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de-DE" b="1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III.</a:t>
                </a:r>
              </a:p>
            </p:txBody>
          </p:sp>
          <p:sp>
            <p:nvSpPr>
              <p:cNvPr id="19" name="Rechteck 18">
                <a:extLst>
                  <a:ext uri="{FF2B5EF4-FFF2-40B4-BE49-F238E27FC236}">
                    <a16:creationId xmlns:a16="http://schemas.microsoft.com/office/drawing/2014/main" id="{E4B97976-76F7-363B-A283-42DF36078604}"/>
                  </a:ext>
                </a:extLst>
              </p:cNvPr>
              <p:cNvSpPr/>
              <p:nvPr/>
            </p:nvSpPr>
            <p:spPr>
              <a:xfrm>
                <a:off x="1269459" y="291829"/>
                <a:ext cx="1726659" cy="593387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de-DE" dirty="0">
                    <a:solidFill>
                      <a:schemeClr val="tx1"/>
                    </a:solidFill>
                    <a:cs typeface="Times New Roman" panose="02020603050405020304" pitchFamily="18" charset="0"/>
                  </a:rPr>
                  <a:t>Drop </a:t>
                </a:r>
                <a:r>
                  <a:rPr lang="de-DE" dirty="0" err="1">
                    <a:solidFill>
                      <a:schemeClr val="tx1"/>
                    </a:solidFill>
                    <a:cs typeface="Times New Roman" panose="02020603050405020304" pitchFamily="18" charset="0"/>
                  </a:rPr>
                  <a:t>unimportant</a:t>
                </a:r>
                <a:r>
                  <a:rPr lang="de-DE" dirty="0">
                    <a:solidFill>
                      <a:schemeClr val="tx1"/>
                    </a:solidFill>
                    <a:cs typeface="Times New Roman" panose="02020603050405020304" pitchFamily="18" charset="0"/>
                  </a:rPr>
                  <a:t> </a:t>
                </a:r>
                <a:r>
                  <a:rPr lang="de-DE" dirty="0" err="1">
                    <a:solidFill>
                      <a:schemeClr val="tx1"/>
                    </a:solidFill>
                    <a:cs typeface="Times New Roman" panose="02020603050405020304" pitchFamily="18" charset="0"/>
                  </a:rPr>
                  <a:t>characters</a:t>
                </a:r>
                <a:r>
                  <a:rPr lang="de-DE" dirty="0">
                    <a:solidFill>
                      <a:schemeClr val="tx1"/>
                    </a:solidFill>
                    <a:cs typeface="Times New Roman" panose="02020603050405020304" pitchFamily="18" charset="0"/>
                  </a:rPr>
                  <a:t> </a:t>
                </a:r>
              </a:p>
              <a:p>
                <a:r>
                  <a:rPr lang="de-DE" sz="1400" dirty="0">
                    <a:solidFill>
                      <a:schemeClr val="tx1"/>
                    </a:solidFill>
                    <a:cs typeface="Times New Roman" panose="02020603050405020304" pitchFamily="18" charset="0"/>
                  </a:rPr>
                  <a:t>Example: </a:t>
                </a:r>
                <a:r>
                  <a:rPr lang="de-DE" sz="1400" dirty="0" err="1">
                    <a:solidFill>
                      <a:schemeClr val="tx1"/>
                    </a:solidFill>
                    <a:cs typeface="Times New Roman" panose="02020603050405020304" pitchFamily="18" charset="0"/>
                  </a:rPr>
                  <a:t>excess</a:t>
                </a:r>
                <a:r>
                  <a:rPr lang="de-DE" sz="1400" dirty="0">
                    <a:solidFill>
                      <a:schemeClr val="tx1"/>
                    </a:solidFill>
                    <a:cs typeface="Times New Roman" panose="02020603050405020304" pitchFamily="18" charset="0"/>
                  </a:rPr>
                  <a:t> </a:t>
                </a:r>
                <a:r>
                  <a:rPr lang="de-DE" sz="1400" dirty="0" err="1">
                    <a:solidFill>
                      <a:schemeClr val="tx1"/>
                    </a:solidFill>
                    <a:cs typeface="Times New Roman" panose="02020603050405020304" pitchFamily="18" charset="0"/>
                  </a:rPr>
                  <a:t>whitespace</a:t>
                </a:r>
                <a:r>
                  <a:rPr lang="de-DE" sz="1400" dirty="0">
                    <a:solidFill>
                      <a:schemeClr val="tx1"/>
                    </a:solidFill>
                    <a:cs typeface="Times New Roman" panose="02020603050405020304" pitchFamily="18" charset="0"/>
                  </a:rPr>
                  <a:t>, </a:t>
                </a:r>
                <a:r>
                  <a:rPr lang="de-DE" sz="1400" dirty="0" err="1">
                    <a:solidFill>
                      <a:schemeClr val="tx1"/>
                    </a:solidFill>
                    <a:cs typeface="Times New Roman" panose="02020603050405020304" pitchFamily="18" charset="0"/>
                  </a:rPr>
                  <a:t>numbers</a:t>
                </a:r>
                <a:r>
                  <a:rPr lang="de-DE" sz="1400" dirty="0">
                    <a:solidFill>
                      <a:schemeClr val="tx1"/>
                    </a:solidFill>
                    <a:cs typeface="Times New Roman" panose="02020603050405020304" pitchFamily="18" charset="0"/>
                  </a:rPr>
                  <a:t>, </a:t>
                </a:r>
                <a:r>
                  <a:rPr lang="de-DE" sz="1400" dirty="0" err="1">
                    <a:solidFill>
                      <a:schemeClr val="tx1"/>
                    </a:solidFill>
                    <a:cs typeface="Times New Roman" panose="02020603050405020304" pitchFamily="18" charset="0"/>
                  </a:rPr>
                  <a:t>certain</a:t>
                </a:r>
                <a:r>
                  <a:rPr lang="de-DE" sz="1400" dirty="0">
                    <a:solidFill>
                      <a:schemeClr val="tx1"/>
                    </a:solidFill>
                    <a:cs typeface="Times New Roman" panose="02020603050405020304" pitchFamily="18" charset="0"/>
                  </a:rPr>
                  <a:t> </a:t>
                </a:r>
                <a:r>
                  <a:rPr lang="de-DE" sz="1400" dirty="0" err="1">
                    <a:solidFill>
                      <a:schemeClr val="tx1"/>
                    </a:solidFill>
                    <a:cs typeface="Times New Roman" panose="02020603050405020304" pitchFamily="18" charset="0"/>
                  </a:rPr>
                  <a:t>punctuation</a:t>
                </a:r>
                <a:endParaRPr lang="de-DE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p:grpSp>
        <p:grpSp>
          <p:nvGrpSpPr>
            <p:cNvPr id="20" name="Gruppieren 19">
              <a:extLst>
                <a:ext uri="{FF2B5EF4-FFF2-40B4-BE49-F238E27FC236}">
                  <a16:creationId xmlns:a16="http://schemas.microsoft.com/office/drawing/2014/main" id="{2564C555-5F1C-AD5F-0D5B-FABD68C3FAB4}"/>
                </a:ext>
              </a:extLst>
            </p:cNvPr>
            <p:cNvGrpSpPr/>
            <p:nvPr/>
          </p:nvGrpSpPr>
          <p:grpSpPr>
            <a:xfrm>
              <a:off x="768485" y="862194"/>
              <a:ext cx="6270482" cy="724712"/>
              <a:chOff x="768485" y="291829"/>
              <a:chExt cx="2227633" cy="593388"/>
            </a:xfrm>
            <a:solidFill>
              <a:schemeClr val="accent1">
                <a:lumMod val="20000"/>
                <a:lumOff val="80000"/>
              </a:schemeClr>
            </a:solidFill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grpSpPr>
          <p:sp>
            <p:nvSpPr>
              <p:cNvPr id="21" name="Rechteck 20">
                <a:extLst>
                  <a:ext uri="{FF2B5EF4-FFF2-40B4-BE49-F238E27FC236}">
                    <a16:creationId xmlns:a16="http://schemas.microsoft.com/office/drawing/2014/main" id="{01D3C332-B4A8-A9DC-D59A-DAB3C76625B3}"/>
                  </a:ext>
                </a:extLst>
              </p:cNvPr>
              <p:cNvSpPr/>
              <p:nvPr/>
            </p:nvSpPr>
            <p:spPr>
              <a:xfrm>
                <a:off x="768485" y="291830"/>
                <a:ext cx="515566" cy="593387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de-DE" b="1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IV.</a:t>
                </a:r>
              </a:p>
            </p:txBody>
          </p:sp>
          <p:sp>
            <p:nvSpPr>
              <p:cNvPr id="22" name="Rechteck 21">
                <a:extLst>
                  <a:ext uri="{FF2B5EF4-FFF2-40B4-BE49-F238E27FC236}">
                    <a16:creationId xmlns:a16="http://schemas.microsoft.com/office/drawing/2014/main" id="{CBC51A37-6067-17B1-E0C2-456682CA073F}"/>
                  </a:ext>
                </a:extLst>
              </p:cNvPr>
              <p:cNvSpPr/>
              <p:nvPr/>
            </p:nvSpPr>
            <p:spPr>
              <a:xfrm>
                <a:off x="1269459" y="291829"/>
                <a:ext cx="1726659" cy="593387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de-DE" dirty="0">
                    <a:solidFill>
                      <a:schemeClr val="tx1"/>
                    </a:solidFill>
                    <a:cs typeface="Times New Roman" panose="02020603050405020304" pitchFamily="18" charset="0"/>
                  </a:rPr>
                  <a:t>Make all </a:t>
                </a:r>
                <a:r>
                  <a:rPr lang="de-DE" dirty="0" err="1">
                    <a:solidFill>
                      <a:schemeClr val="tx1"/>
                    </a:solidFill>
                    <a:cs typeface="Times New Roman" panose="02020603050405020304" pitchFamily="18" charset="0"/>
                  </a:rPr>
                  <a:t>characters</a:t>
                </a:r>
                <a:r>
                  <a:rPr lang="de-DE" dirty="0">
                    <a:solidFill>
                      <a:schemeClr val="tx1"/>
                    </a:solidFill>
                    <a:cs typeface="Times New Roman" panose="02020603050405020304" pitchFamily="18" charset="0"/>
                  </a:rPr>
                  <a:t> </a:t>
                </a:r>
                <a:r>
                  <a:rPr lang="de-DE" dirty="0" err="1">
                    <a:solidFill>
                      <a:schemeClr val="tx1"/>
                    </a:solidFill>
                    <a:cs typeface="Times New Roman" panose="02020603050405020304" pitchFamily="18" charset="0"/>
                  </a:rPr>
                  <a:t>lower</a:t>
                </a:r>
                <a:r>
                  <a:rPr lang="de-DE" dirty="0">
                    <a:solidFill>
                      <a:schemeClr val="tx1"/>
                    </a:solidFill>
                    <a:cs typeface="Times New Roman" panose="02020603050405020304" pitchFamily="18" charset="0"/>
                  </a:rPr>
                  <a:t> </a:t>
                </a:r>
                <a:r>
                  <a:rPr lang="de-DE" dirty="0" err="1">
                    <a:solidFill>
                      <a:schemeClr val="tx1"/>
                    </a:solidFill>
                    <a:cs typeface="Times New Roman" panose="02020603050405020304" pitchFamily="18" charset="0"/>
                  </a:rPr>
                  <a:t>case</a:t>
                </a:r>
                <a:endParaRPr lang="de-DE" dirty="0">
                  <a:solidFill>
                    <a:schemeClr val="tx1"/>
                  </a:solidFill>
                  <a:cs typeface="Times New Roman" panose="02020603050405020304" pitchFamily="18" charset="0"/>
                </a:endParaRPr>
              </a:p>
              <a:p>
                <a:r>
                  <a:rPr lang="de-DE" sz="1400" dirty="0">
                    <a:solidFill>
                      <a:schemeClr val="tx1"/>
                    </a:solidFill>
                    <a:cs typeface="Times New Roman" panose="02020603050405020304" pitchFamily="18" charset="0"/>
                  </a:rPr>
                  <a:t>Example: Amazon </a:t>
                </a:r>
                <a:r>
                  <a:rPr lang="de-DE" sz="1400" dirty="0">
                    <a:solidFill>
                      <a:schemeClr val="tx1"/>
                    </a:solidFill>
                  </a:rPr>
                  <a:t>→ </a:t>
                </a:r>
                <a:r>
                  <a:rPr lang="de-DE" sz="1400" dirty="0" err="1">
                    <a:solidFill>
                      <a:schemeClr val="tx1"/>
                    </a:solidFill>
                  </a:rPr>
                  <a:t>amazon</a:t>
                </a:r>
                <a:endParaRPr lang="de-DE" sz="1400" dirty="0">
                  <a:cs typeface="Times New Roman" panose="02020603050405020304" pitchFamily="18" charset="0"/>
                </a:endParaRPr>
              </a:p>
            </p:txBody>
          </p:sp>
        </p:grpSp>
        <p:grpSp>
          <p:nvGrpSpPr>
            <p:cNvPr id="23" name="Gruppieren 22">
              <a:extLst>
                <a:ext uri="{FF2B5EF4-FFF2-40B4-BE49-F238E27FC236}">
                  <a16:creationId xmlns:a16="http://schemas.microsoft.com/office/drawing/2014/main" id="{800A6A39-B350-CE29-3706-5A3E2B7D8A74}"/>
                </a:ext>
              </a:extLst>
            </p:cNvPr>
            <p:cNvGrpSpPr/>
            <p:nvPr/>
          </p:nvGrpSpPr>
          <p:grpSpPr>
            <a:xfrm>
              <a:off x="768485" y="1737662"/>
              <a:ext cx="6270482" cy="724711"/>
              <a:chOff x="768485" y="291829"/>
              <a:chExt cx="2227633" cy="593388"/>
            </a:xfrm>
            <a:solidFill>
              <a:schemeClr val="accent1">
                <a:lumMod val="20000"/>
                <a:lumOff val="80000"/>
              </a:schemeClr>
            </a:solidFill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grpSpPr>
          <p:sp>
            <p:nvSpPr>
              <p:cNvPr id="24" name="Rechteck 23">
                <a:extLst>
                  <a:ext uri="{FF2B5EF4-FFF2-40B4-BE49-F238E27FC236}">
                    <a16:creationId xmlns:a16="http://schemas.microsoft.com/office/drawing/2014/main" id="{ABDE24D2-788C-CAE9-8EFC-D1AE594A1BEA}"/>
                  </a:ext>
                </a:extLst>
              </p:cNvPr>
              <p:cNvSpPr/>
              <p:nvPr/>
            </p:nvSpPr>
            <p:spPr>
              <a:xfrm>
                <a:off x="768485" y="291830"/>
                <a:ext cx="515566" cy="593387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de-DE" b="1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V.</a:t>
                </a:r>
              </a:p>
            </p:txBody>
          </p:sp>
          <p:sp>
            <p:nvSpPr>
              <p:cNvPr id="25" name="Rechteck 24">
                <a:extLst>
                  <a:ext uri="{FF2B5EF4-FFF2-40B4-BE49-F238E27FC236}">
                    <a16:creationId xmlns:a16="http://schemas.microsoft.com/office/drawing/2014/main" id="{7402E143-B915-19E6-01A2-9EAAA33AA659}"/>
                  </a:ext>
                </a:extLst>
              </p:cNvPr>
              <p:cNvSpPr/>
              <p:nvPr/>
            </p:nvSpPr>
            <p:spPr>
              <a:xfrm>
                <a:off x="1269459" y="291829"/>
                <a:ext cx="1726659" cy="593387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de-DE" dirty="0">
                    <a:solidFill>
                      <a:schemeClr val="tx1"/>
                    </a:solidFill>
                    <a:cs typeface="Times New Roman" panose="02020603050405020304" pitchFamily="18" charset="0"/>
                  </a:rPr>
                  <a:t>Separate </a:t>
                </a:r>
                <a:r>
                  <a:rPr lang="de-DE" dirty="0" err="1">
                    <a:solidFill>
                      <a:schemeClr val="tx1"/>
                    </a:solidFill>
                    <a:cs typeface="Times New Roman" panose="02020603050405020304" pitchFamily="18" charset="0"/>
                  </a:rPr>
                  <a:t>contractions</a:t>
                </a:r>
                <a:endParaRPr lang="de-DE" dirty="0">
                  <a:solidFill>
                    <a:schemeClr val="tx1"/>
                  </a:solidFill>
                  <a:cs typeface="Times New Roman" panose="02020603050405020304" pitchFamily="18" charset="0"/>
                </a:endParaRPr>
              </a:p>
              <a:p>
                <a:r>
                  <a:rPr lang="de-DE" sz="1400" dirty="0">
                    <a:solidFill>
                      <a:schemeClr val="tx1"/>
                    </a:solidFill>
                    <a:cs typeface="Times New Roman" panose="02020603050405020304" pitchFamily="18" charset="0"/>
                  </a:rPr>
                  <a:t>Example: </a:t>
                </a:r>
                <a:r>
                  <a:rPr lang="de-DE" sz="1400" dirty="0" err="1">
                    <a:solidFill>
                      <a:schemeClr val="tx1"/>
                    </a:solidFill>
                    <a:cs typeface="Times New Roman" panose="02020603050405020304" pitchFamily="18" charset="0"/>
                  </a:rPr>
                  <a:t>isn</a:t>
                </a:r>
                <a:r>
                  <a:rPr lang="de-DE" sz="1400" dirty="0" err="1">
                    <a:solidFill>
                      <a:schemeClr val="tx1"/>
                    </a:solidFill>
                  </a:rPr>
                  <a:t>'</a:t>
                </a:r>
                <a:r>
                  <a:rPr lang="de-DE" sz="1400" dirty="0" err="1">
                    <a:solidFill>
                      <a:schemeClr val="tx1"/>
                    </a:solidFill>
                    <a:cs typeface="Times New Roman" panose="02020603050405020304" pitchFamily="18" charset="0"/>
                  </a:rPr>
                  <a:t>t</a:t>
                </a:r>
                <a:r>
                  <a:rPr lang="de-DE" sz="1400" dirty="0">
                    <a:solidFill>
                      <a:schemeClr val="tx1"/>
                    </a:solidFill>
                    <a:cs typeface="Times New Roman" panose="02020603050405020304" pitchFamily="18" charset="0"/>
                  </a:rPr>
                  <a:t> </a:t>
                </a:r>
                <a:r>
                  <a:rPr lang="de-DE" sz="1400" dirty="0">
                    <a:solidFill>
                      <a:schemeClr val="tx1"/>
                    </a:solidFill>
                  </a:rPr>
                  <a:t>→ </a:t>
                </a:r>
                <a:r>
                  <a:rPr lang="de-DE" sz="1400" dirty="0" err="1">
                    <a:solidFill>
                      <a:schemeClr val="tx1"/>
                    </a:solidFill>
                  </a:rPr>
                  <a:t>is</a:t>
                </a:r>
                <a:r>
                  <a:rPr lang="de-DE" sz="1400" dirty="0">
                    <a:solidFill>
                      <a:schemeClr val="tx1"/>
                    </a:solidFill>
                  </a:rPr>
                  <a:t> not</a:t>
                </a:r>
                <a:endParaRPr lang="de-DE" sz="1400" dirty="0">
                  <a:cs typeface="Times New Roman" panose="02020603050405020304" pitchFamily="18" charset="0"/>
                </a:endParaRPr>
              </a:p>
            </p:txBody>
          </p:sp>
        </p:grpSp>
        <p:grpSp>
          <p:nvGrpSpPr>
            <p:cNvPr id="26" name="Gruppieren 25">
              <a:extLst>
                <a:ext uri="{FF2B5EF4-FFF2-40B4-BE49-F238E27FC236}">
                  <a16:creationId xmlns:a16="http://schemas.microsoft.com/office/drawing/2014/main" id="{75046D68-9368-831C-3CFA-91B9AFF83B7C}"/>
                </a:ext>
              </a:extLst>
            </p:cNvPr>
            <p:cNvGrpSpPr/>
            <p:nvPr/>
          </p:nvGrpSpPr>
          <p:grpSpPr>
            <a:xfrm>
              <a:off x="770163" y="3483845"/>
              <a:ext cx="6268804" cy="593388"/>
              <a:chOff x="768485" y="291829"/>
              <a:chExt cx="2227633" cy="593388"/>
            </a:xfrm>
            <a:solidFill>
              <a:schemeClr val="accent1">
                <a:lumMod val="20000"/>
                <a:lumOff val="80000"/>
              </a:schemeClr>
            </a:solidFill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grpSpPr>
          <p:sp>
            <p:nvSpPr>
              <p:cNvPr id="27" name="Rechteck 26">
                <a:extLst>
                  <a:ext uri="{FF2B5EF4-FFF2-40B4-BE49-F238E27FC236}">
                    <a16:creationId xmlns:a16="http://schemas.microsoft.com/office/drawing/2014/main" id="{A4D07A7F-F200-E0E6-4955-1CA25982FF63}"/>
                  </a:ext>
                </a:extLst>
              </p:cNvPr>
              <p:cNvSpPr/>
              <p:nvPr/>
            </p:nvSpPr>
            <p:spPr>
              <a:xfrm>
                <a:off x="768485" y="291830"/>
                <a:ext cx="515566" cy="593387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de-DE" b="1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VII.</a:t>
                </a:r>
              </a:p>
            </p:txBody>
          </p:sp>
          <p:sp>
            <p:nvSpPr>
              <p:cNvPr id="28" name="Rechteck 27">
                <a:extLst>
                  <a:ext uri="{FF2B5EF4-FFF2-40B4-BE49-F238E27FC236}">
                    <a16:creationId xmlns:a16="http://schemas.microsoft.com/office/drawing/2014/main" id="{40902F85-140F-3A20-8F85-87ABA871F9DC}"/>
                  </a:ext>
                </a:extLst>
              </p:cNvPr>
              <p:cNvSpPr/>
              <p:nvPr/>
            </p:nvSpPr>
            <p:spPr>
              <a:xfrm>
                <a:off x="1269459" y="291829"/>
                <a:ext cx="1726659" cy="593387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de-DE" dirty="0">
                    <a:solidFill>
                      <a:schemeClr val="tx1"/>
                    </a:solidFill>
                    <a:cs typeface="Times New Roman" panose="02020603050405020304" pitchFamily="18" charset="0"/>
                  </a:rPr>
                  <a:t>Correct </a:t>
                </a:r>
                <a:r>
                  <a:rPr lang="de-DE" dirty="0" err="1">
                    <a:solidFill>
                      <a:schemeClr val="tx1"/>
                    </a:solidFill>
                    <a:cs typeface="Times New Roman" panose="02020603050405020304" pitchFamily="18" charset="0"/>
                  </a:rPr>
                  <a:t>spelling</a:t>
                </a:r>
                <a:r>
                  <a:rPr lang="de-DE" dirty="0">
                    <a:solidFill>
                      <a:schemeClr val="tx1"/>
                    </a:solidFill>
                    <a:cs typeface="Times New Roman" panose="02020603050405020304" pitchFamily="18" charset="0"/>
                  </a:rPr>
                  <a:t> of </a:t>
                </a:r>
                <a:r>
                  <a:rPr lang="de-DE" dirty="0" err="1">
                    <a:solidFill>
                      <a:schemeClr val="tx1"/>
                    </a:solidFill>
                    <a:cs typeface="Times New Roman" panose="02020603050405020304" pitchFamily="18" charset="0"/>
                  </a:rPr>
                  <a:t>words</a:t>
                </a:r>
                <a:endParaRPr lang="de-DE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p:grpSp>
        <p:grpSp>
          <p:nvGrpSpPr>
            <p:cNvPr id="29" name="Gruppieren 28">
              <a:extLst>
                <a:ext uri="{FF2B5EF4-FFF2-40B4-BE49-F238E27FC236}">
                  <a16:creationId xmlns:a16="http://schemas.microsoft.com/office/drawing/2014/main" id="{AA42005B-3E70-3486-003D-7820522407E6}"/>
                </a:ext>
              </a:extLst>
            </p:cNvPr>
            <p:cNvGrpSpPr/>
            <p:nvPr/>
          </p:nvGrpSpPr>
          <p:grpSpPr>
            <a:xfrm>
              <a:off x="768485" y="4224343"/>
              <a:ext cx="6270482" cy="724715"/>
              <a:chOff x="768485" y="291829"/>
              <a:chExt cx="2227633" cy="593388"/>
            </a:xfrm>
            <a:solidFill>
              <a:schemeClr val="accent1">
                <a:lumMod val="20000"/>
                <a:lumOff val="80000"/>
              </a:schemeClr>
            </a:solidFill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grpSpPr>
          <p:sp>
            <p:nvSpPr>
              <p:cNvPr id="30" name="Rechteck 29">
                <a:extLst>
                  <a:ext uri="{FF2B5EF4-FFF2-40B4-BE49-F238E27FC236}">
                    <a16:creationId xmlns:a16="http://schemas.microsoft.com/office/drawing/2014/main" id="{1D404F27-8D1E-51B8-2BC2-0C9266A7C488}"/>
                  </a:ext>
                </a:extLst>
              </p:cNvPr>
              <p:cNvSpPr/>
              <p:nvPr/>
            </p:nvSpPr>
            <p:spPr>
              <a:xfrm>
                <a:off x="768485" y="291830"/>
                <a:ext cx="515566" cy="593387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de-DE" b="1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VIII.</a:t>
                </a:r>
              </a:p>
            </p:txBody>
          </p:sp>
          <p:sp>
            <p:nvSpPr>
              <p:cNvPr id="31" name="Rechteck 30">
                <a:extLst>
                  <a:ext uri="{FF2B5EF4-FFF2-40B4-BE49-F238E27FC236}">
                    <a16:creationId xmlns:a16="http://schemas.microsoft.com/office/drawing/2014/main" id="{6A1DA535-A1A5-CFB1-3D5B-ADF4A9F521C5}"/>
                  </a:ext>
                </a:extLst>
              </p:cNvPr>
              <p:cNvSpPr/>
              <p:nvPr/>
            </p:nvSpPr>
            <p:spPr>
              <a:xfrm>
                <a:off x="1269459" y="291829"/>
                <a:ext cx="1726659" cy="593387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de-DE" dirty="0">
                    <a:solidFill>
                      <a:schemeClr val="tx1"/>
                    </a:solidFill>
                    <a:cs typeface="Times New Roman" panose="02020603050405020304" pitchFamily="18" charset="0"/>
                  </a:rPr>
                  <a:t>Remove </a:t>
                </a:r>
                <a:r>
                  <a:rPr lang="de-DE" dirty="0" err="1">
                    <a:solidFill>
                      <a:schemeClr val="tx1"/>
                    </a:solidFill>
                    <a:cs typeface="Times New Roman" panose="02020603050405020304" pitchFamily="18" charset="0"/>
                  </a:rPr>
                  <a:t>stopwords</a:t>
                </a:r>
                <a:endParaRPr lang="de-DE" dirty="0">
                  <a:solidFill>
                    <a:schemeClr val="tx1"/>
                  </a:solidFill>
                  <a:cs typeface="Times New Roman" panose="02020603050405020304" pitchFamily="18" charset="0"/>
                </a:endParaRPr>
              </a:p>
              <a:p>
                <a:r>
                  <a:rPr lang="de-DE" sz="1400" dirty="0">
                    <a:solidFill>
                      <a:schemeClr val="tx1"/>
                    </a:solidFill>
                    <a:cs typeface="Times New Roman" panose="02020603050405020304" pitchFamily="18" charset="0"/>
                  </a:rPr>
                  <a:t>Example: [</a:t>
                </a:r>
                <a:r>
                  <a:rPr lang="de-DE" sz="1400" dirty="0">
                    <a:solidFill>
                      <a:schemeClr val="tx1"/>
                    </a:solidFill>
                  </a:rPr>
                  <a:t>'</a:t>
                </a:r>
                <a:r>
                  <a:rPr lang="de-DE" sz="1400" dirty="0" err="1">
                    <a:solidFill>
                      <a:schemeClr val="tx1"/>
                    </a:solidFill>
                  </a:rPr>
                  <a:t>wine</a:t>
                </a:r>
                <a:r>
                  <a:rPr lang="de-DE" sz="1400" dirty="0">
                    <a:solidFill>
                      <a:schemeClr val="tx1"/>
                    </a:solidFill>
                  </a:rPr>
                  <a:t>', 'and', '</a:t>
                </a:r>
                <a:r>
                  <a:rPr lang="de-DE" sz="1400" dirty="0" err="1">
                    <a:solidFill>
                      <a:schemeClr val="tx1"/>
                    </a:solidFill>
                  </a:rPr>
                  <a:t>chocolate</a:t>
                </a:r>
                <a:r>
                  <a:rPr lang="de-DE" sz="1400" dirty="0">
                    <a:solidFill>
                      <a:schemeClr val="tx1"/>
                    </a:solidFill>
                  </a:rPr>
                  <a:t>‘</a:t>
                </a:r>
                <a:r>
                  <a:rPr lang="de-DE" sz="1400" dirty="0">
                    <a:solidFill>
                      <a:schemeClr val="tx1"/>
                    </a:solidFill>
                    <a:cs typeface="Times New Roman" panose="02020603050405020304" pitchFamily="18" charset="0"/>
                  </a:rPr>
                  <a:t>] </a:t>
                </a:r>
                <a:r>
                  <a:rPr lang="de-DE" sz="1400" dirty="0">
                    <a:solidFill>
                      <a:schemeClr val="tx1"/>
                    </a:solidFill>
                  </a:rPr>
                  <a:t>→</a:t>
                </a:r>
                <a:r>
                  <a:rPr lang="de-DE" sz="1400" dirty="0">
                    <a:solidFill>
                      <a:schemeClr val="tx1"/>
                    </a:solidFill>
                    <a:cs typeface="Times New Roman" panose="02020603050405020304" pitchFamily="18" charset="0"/>
                  </a:rPr>
                  <a:t> [</a:t>
                </a:r>
                <a:r>
                  <a:rPr lang="de-DE" sz="1400" dirty="0">
                    <a:solidFill>
                      <a:schemeClr val="tx1"/>
                    </a:solidFill>
                  </a:rPr>
                  <a:t>'</a:t>
                </a:r>
                <a:r>
                  <a:rPr lang="de-DE" sz="1400" dirty="0" err="1">
                    <a:solidFill>
                      <a:schemeClr val="tx1"/>
                    </a:solidFill>
                  </a:rPr>
                  <a:t>wine</a:t>
                </a:r>
                <a:r>
                  <a:rPr lang="de-DE" sz="1400" dirty="0">
                    <a:solidFill>
                      <a:schemeClr val="tx1"/>
                    </a:solidFill>
                  </a:rPr>
                  <a:t>', '</a:t>
                </a:r>
                <a:r>
                  <a:rPr lang="de-DE" sz="1400" dirty="0" err="1">
                    <a:solidFill>
                      <a:schemeClr val="tx1"/>
                    </a:solidFill>
                  </a:rPr>
                  <a:t>chocolate</a:t>
                </a:r>
                <a:r>
                  <a:rPr lang="de-DE" sz="1400" dirty="0">
                    <a:solidFill>
                      <a:schemeClr val="tx1"/>
                    </a:solidFill>
                  </a:rPr>
                  <a:t>'</a:t>
                </a:r>
                <a:r>
                  <a:rPr lang="de-DE" sz="1400" dirty="0">
                    <a:solidFill>
                      <a:schemeClr val="tx1"/>
                    </a:solidFill>
                    <a:cs typeface="Times New Roman" panose="02020603050405020304" pitchFamily="18" charset="0"/>
                  </a:rPr>
                  <a:t>]</a:t>
                </a:r>
                <a:endParaRPr lang="de-DE" dirty="0">
                  <a:cs typeface="Times New Roman" panose="02020603050405020304" pitchFamily="18" charset="0"/>
                </a:endParaRPr>
              </a:p>
            </p:txBody>
          </p:sp>
        </p:grpSp>
        <p:grpSp>
          <p:nvGrpSpPr>
            <p:cNvPr id="32" name="Gruppieren 31">
              <a:extLst>
                <a:ext uri="{FF2B5EF4-FFF2-40B4-BE49-F238E27FC236}">
                  <a16:creationId xmlns:a16="http://schemas.microsoft.com/office/drawing/2014/main" id="{7EBABE3A-EFEC-D751-DFC8-F1DBEB064293}"/>
                </a:ext>
              </a:extLst>
            </p:cNvPr>
            <p:cNvGrpSpPr/>
            <p:nvPr/>
          </p:nvGrpSpPr>
          <p:grpSpPr>
            <a:xfrm>
              <a:off x="768485" y="5096166"/>
              <a:ext cx="6270482" cy="724711"/>
              <a:chOff x="768485" y="291829"/>
              <a:chExt cx="2227633" cy="593388"/>
            </a:xfrm>
            <a:solidFill>
              <a:schemeClr val="accent1">
                <a:lumMod val="20000"/>
                <a:lumOff val="80000"/>
              </a:schemeClr>
            </a:solidFill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grpSpPr>
          <p:sp>
            <p:nvSpPr>
              <p:cNvPr id="33" name="Rechteck 32">
                <a:extLst>
                  <a:ext uri="{FF2B5EF4-FFF2-40B4-BE49-F238E27FC236}">
                    <a16:creationId xmlns:a16="http://schemas.microsoft.com/office/drawing/2014/main" id="{D0AF9F64-F62B-2036-CDB0-A38BDE2908AA}"/>
                  </a:ext>
                </a:extLst>
              </p:cNvPr>
              <p:cNvSpPr/>
              <p:nvPr/>
            </p:nvSpPr>
            <p:spPr>
              <a:xfrm>
                <a:off x="768485" y="291830"/>
                <a:ext cx="515566" cy="593387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de-DE" b="1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IX.</a:t>
                </a:r>
              </a:p>
            </p:txBody>
          </p:sp>
          <p:sp>
            <p:nvSpPr>
              <p:cNvPr id="34" name="Rechteck 33">
                <a:extLst>
                  <a:ext uri="{FF2B5EF4-FFF2-40B4-BE49-F238E27FC236}">
                    <a16:creationId xmlns:a16="http://schemas.microsoft.com/office/drawing/2014/main" id="{4E26F630-F99F-3634-9967-9CBB079BC2EF}"/>
                  </a:ext>
                </a:extLst>
              </p:cNvPr>
              <p:cNvSpPr/>
              <p:nvPr/>
            </p:nvSpPr>
            <p:spPr>
              <a:xfrm>
                <a:off x="1269459" y="291829"/>
                <a:ext cx="1726659" cy="593387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de-DE" dirty="0">
                    <a:solidFill>
                      <a:schemeClr val="tx1"/>
                    </a:solidFill>
                    <a:cs typeface="Times New Roman" panose="02020603050405020304" pitchFamily="18" charset="0"/>
                  </a:rPr>
                  <a:t>Word </a:t>
                </a:r>
                <a:r>
                  <a:rPr lang="de-DE" dirty="0" err="1">
                    <a:solidFill>
                      <a:schemeClr val="tx1"/>
                    </a:solidFill>
                    <a:cs typeface="Times New Roman" panose="02020603050405020304" pitchFamily="18" charset="0"/>
                  </a:rPr>
                  <a:t>stemming</a:t>
                </a:r>
                <a:endParaRPr lang="de-DE" dirty="0">
                  <a:solidFill>
                    <a:schemeClr val="tx1"/>
                  </a:solidFill>
                  <a:cs typeface="Times New Roman" panose="02020603050405020304" pitchFamily="18" charset="0"/>
                </a:endParaRPr>
              </a:p>
              <a:p>
                <a:r>
                  <a:rPr lang="de-DE" sz="1400" dirty="0">
                    <a:solidFill>
                      <a:schemeClr val="tx1"/>
                    </a:solidFill>
                    <a:cs typeface="Times New Roman" panose="02020603050405020304" pitchFamily="18" charset="0"/>
                  </a:rPr>
                  <a:t>Example: </a:t>
                </a:r>
                <a:r>
                  <a:rPr lang="de-DE" sz="1400" dirty="0" err="1">
                    <a:solidFill>
                      <a:schemeClr val="tx1"/>
                    </a:solidFill>
                    <a:cs typeface="Times New Roman" panose="02020603050405020304" pitchFamily="18" charset="0"/>
                  </a:rPr>
                  <a:t>deliveries</a:t>
                </a:r>
                <a:r>
                  <a:rPr lang="de-DE" sz="1400" dirty="0">
                    <a:solidFill>
                      <a:schemeClr val="tx1"/>
                    </a:solidFill>
                    <a:cs typeface="Times New Roman" panose="02020603050405020304" pitchFamily="18" charset="0"/>
                  </a:rPr>
                  <a:t> </a:t>
                </a:r>
                <a:r>
                  <a:rPr lang="de-DE" sz="1400" dirty="0">
                    <a:solidFill>
                      <a:schemeClr val="tx1"/>
                    </a:solidFill>
                  </a:rPr>
                  <a:t>→ </a:t>
                </a:r>
                <a:r>
                  <a:rPr lang="de-DE" sz="1400" dirty="0" err="1">
                    <a:solidFill>
                      <a:schemeClr val="tx1"/>
                    </a:solidFill>
                  </a:rPr>
                  <a:t>deliveri</a:t>
                </a:r>
                <a:r>
                  <a:rPr lang="de-DE" sz="1400" dirty="0">
                    <a:solidFill>
                      <a:schemeClr val="tx1"/>
                    </a:solidFill>
                    <a:cs typeface="Times New Roman" panose="02020603050405020304" pitchFamily="18" charset="0"/>
                  </a:rPr>
                  <a:t> </a:t>
                </a:r>
                <a:endParaRPr lang="de-DE" sz="1400" dirty="0">
                  <a:cs typeface="Times New Roman" panose="02020603050405020304" pitchFamily="18" charset="0"/>
                </a:endParaRPr>
              </a:p>
            </p:txBody>
          </p:sp>
        </p:grpSp>
        <p:grpSp>
          <p:nvGrpSpPr>
            <p:cNvPr id="35" name="Gruppieren 34">
              <a:extLst>
                <a:ext uri="{FF2B5EF4-FFF2-40B4-BE49-F238E27FC236}">
                  <a16:creationId xmlns:a16="http://schemas.microsoft.com/office/drawing/2014/main" id="{8FB7ABAA-F540-B42E-1FCA-36FC298F88F2}"/>
                </a:ext>
              </a:extLst>
            </p:cNvPr>
            <p:cNvGrpSpPr/>
            <p:nvPr/>
          </p:nvGrpSpPr>
          <p:grpSpPr>
            <a:xfrm>
              <a:off x="768485" y="5967984"/>
              <a:ext cx="6270482" cy="724713"/>
              <a:chOff x="768485" y="291829"/>
              <a:chExt cx="2227633" cy="593388"/>
            </a:xfrm>
            <a:solidFill>
              <a:schemeClr val="accent1">
                <a:lumMod val="20000"/>
                <a:lumOff val="80000"/>
              </a:schemeClr>
            </a:solidFill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grpSpPr>
          <p:sp>
            <p:nvSpPr>
              <p:cNvPr id="36" name="Rechteck 35">
                <a:extLst>
                  <a:ext uri="{FF2B5EF4-FFF2-40B4-BE49-F238E27FC236}">
                    <a16:creationId xmlns:a16="http://schemas.microsoft.com/office/drawing/2014/main" id="{46B10557-2173-68DC-9FDE-F272AD2A2BC5}"/>
                  </a:ext>
                </a:extLst>
              </p:cNvPr>
              <p:cNvSpPr/>
              <p:nvPr/>
            </p:nvSpPr>
            <p:spPr>
              <a:xfrm>
                <a:off x="768485" y="291830"/>
                <a:ext cx="515566" cy="593387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de-DE" b="1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X.</a:t>
                </a:r>
              </a:p>
            </p:txBody>
          </p:sp>
          <p:sp>
            <p:nvSpPr>
              <p:cNvPr id="37" name="Rechteck 36">
                <a:extLst>
                  <a:ext uri="{FF2B5EF4-FFF2-40B4-BE49-F238E27FC236}">
                    <a16:creationId xmlns:a16="http://schemas.microsoft.com/office/drawing/2014/main" id="{901060F7-9C03-4EB4-2724-2BCE9076EC34}"/>
                  </a:ext>
                </a:extLst>
              </p:cNvPr>
              <p:cNvSpPr/>
              <p:nvPr/>
            </p:nvSpPr>
            <p:spPr>
              <a:xfrm>
                <a:off x="1269459" y="291829"/>
                <a:ext cx="1726659" cy="593387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de-DE" dirty="0">
                    <a:solidFill>
                      <a:schemeClr val="tx1"/>
                    </a:solidFill>
                    <a:cs typeface="Times New Roman" panose="02020603050405020304" pitchFamily="18" charset="0"/>
                  </a:rPr>
                  <a:t>Join </a:t>
                </a:r>
                <a:r>
                  <a:rPr lang="de-DE" dirty="0" err="1">
                    <a:solidFill>
                      <a:schemeClr val="tx1"/>
                    </a:solidFill>
                    <a:cs typeface="Times New Roman" panose="02020603050405020304" pitchFamily="18" charset="0"/>
                  </a:rPr>
                  <a:t>word</a:t>
                </a:r>
                <a:r>
                  <a:rPr lang="de-DE" dirty="0">
                    <a:solidFill>
                      <a:schemeClr val="tx1"/>
                    </a:solidFill>
                    <a:cs typeface="Times New Roman" panose="02020603050405020304" pitchFamily="18" charset="0"/>
                  </a:rPr>
                  <a:t> </a:t>
                </a:r>
                <a:r>
                  <a:rPr lang="de-DE" dirty="0" err="1">
                    <a:solidFill>
                      <a:schemeClr val="tx1"/>
                    </a:solidFill>
                    <a:cs typeface="Times New Roman" panose="02020603050405020304" pitchFamily="18" charset="0"/>
                  </a:rPr>
                  <a:t>stems</a:t>
                </a:r>
                <a:endParaRPr lang="de-DE" dirty="0">
                  <a:solidFill>
                    <a:schemeClr val="tx1"/>
                  </a:solidFill>
                  <a:cs typeface="Times New Roman" panose="02020603050405020304" pitchFamily="18" charset="0"/>
                </a:endParaRPr>
              </a:p>
              <a:p>
                <a:r>
                  <a:rPr lang="de-DE" sz="1400" dirty="0">
                    <a:solidFill>
                      <a:schemeClr val="tx1"/>
                    </a:solidFill>
                    <a:cs typeface="Times New Roman" panose="02020603050405020304" pitchFamily="18" charset="0"/>
                  </a:rPr>
                  <a:t>Example: [</a:t>
                </a:r>
                <a:r>
                  <a:rPr lang="de-DE" sz="1400" dirty="0">
                    <a:solidFill>
                      <a:schemeClr val="tx1"/>
                    </a:solidFill>
                  </a:rPr>
                  <a:t>'</a:t>
                </a:r>
                <a:r>
                  <a:rPr lang="de-DE" sz="1400" dirty="0" err="1">
                    <a:solidFill>
                      <a:schemeClr val="tx1"/>
                    </a:solidFill>
                  </a:rPr>
                  <a:t>deliveri</a:t>
                </a:r>
                <a:r>
                  <a:rPr lang="de-DE" sz="1400" dirty="0">
                    <a:solidFill>
                      <a:schemeClr val="tx1"/>
                    </a:solidFill>
                  </a:rPr>
                  <a:t>', 'date', 'miss‘</a:t>
                </a:r>
                <a:r>
                  <a:rPr lang="de-DE" sz="1400" dirty="0">
                    <a:solidFill>
                      <a:schemeClr val="tx1"/>
                    </a:solidFill>
                    <a:cs typeface="Times New Roman" panose="02020603050405020304" pitchFamily="18" charset="0"/>
                  </a:rPr>
                  <a:t>] </a:t>
                </a:r>
                <a:r>
                  <a:rPr lang="de-DE" sz="1400" dirty="0">
                    <a:solidFill>
                      <a:schemeClr val="tx1"/>
                    </a:solidFill>
                  </a:rPr>
                  <a:t>→</a:t>
                </a:r>
                <a:r>
                  <a:rPr lang="de-DE" sz="1400" dirty="0">
                    <a:solidFill>
                      <a:schemeClr val="tx1"/>
                    </a:solidFill>
                    <a:cs typeface="Times New Roman" panose="02020603050405020304" pitchFamily="18" charset="0"/>
                  </a:rPr>
                  <a:t> [</a:t>
                </a:r>
                <a:r>
                  <a:rPr lang="de-DE" sz="1400" dirty="0">
                    <a:solidFill>
                      <a:schemeClr val="tx1"/>
                    </a:solidFill>
                  </a:rPr>
                  <a:t>'</a:t>
                </a:r>
                <a:r>
                  <a:rPr lang="de-DE" sz="1400" dirty="0" err="1">
                    <a:solidFill>
                      <a:schemeClr val="tx1"/>
                    </a:solidFill>
                  </a:rPr>
                  <a:t>deliveri</a:t>
                </a:r>
                <a:r>
                  <a:rPr lang="de-DE" sz="1400" dirty="0">
                    <a:solidFill>
                      <a:schemeClr val="tx1"/>
                    </a:solidFill>
                  </a:rPr>
                  <a:t> date miss'</a:t>
                </a:r>
                <a:r>
                  <a:rPr lang="de-DE" sz="1400" dirty="0">
                    <a:solidFill>
                      <a:schemeClr val="tx1"/>
                    </a:solidFill>
                    <a:cs typeface="Times New Roman" panose="02020603050405020304" pitchFamily="18" charset="0"/>
                  </a:rPr>
                  <a:t>] </a:t>
                </a:r>
                <a:endParaRPr lang="de-DE" sz="1400" dirty="0">
                  <a:cs typeface="Times New Roman" panose="02020603050405020304" pitchFamily="18" charset="0"/>
                </a:endParaRPr>
              </a:p>
            </p:txBody>
          </p:sp>
        </p:grpSp>
        <p:grpSp>
          <p:nvGrpSpPr>
            <p:cNvPr id="38" name="Gruppieren 37">
              <a:extLst>
                <a:ext uri="{FF2B5EF4-FFF2-40B4-BE49-F238E27FC236}">
                  <a16:creationId xmlns:a16="http://schemas.microsoft.com/office/drawing/2014/main" id="{4584F4BD-BB46-356D-2810-284F7A68586D}"/>
                </a:ext>
              </a:extLst>
            </p:cNvPr>
            <p:cNvGrpSpPr/>
            <p:nvPr/>
          </p:nvGrpSpPr>
          <p:grpSpPr>
            <a:xfrm>
              <a:off x="768485" y="2613127"/>
              <a:ext cx="6270482" cy="724709"/>
              <a:chOff x="768485" y="291829"/>
              <a:chExt cx="2227633" cy="593388"/>
            </a:xfrm>
            <a:solidFill>
              <a:schemeClr val="accent1">
                <a:lumMod val="20000"/>
                <a:lumOff val="80000"/>
              </a:schemeClr>
            </a:solidFill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grpSpPr>
          <p:sp>
            <p:nvSpPr>
              <p:cNvPr id="39" name="Rechteck 38">
                <a:extLst>
                  <a:ext uri="{FF2B5EF4-FFF2-40B4-BE49-F238E27FC236}">
                    <a16:creationId xmlns:a16="http://schemas.microsoft.com/office/drawing/2014/main" id="{53713B93-A06D-898C-74A2-500F7CFFFE0D}"/>
                  </a:ext>
                </a:extLst>
              </p:cNvPr>
              <p:cNvSpPr/>
              <p:nvPr/>
            </p:nvSpPr>
            <p:spPr>
              <a:xfrm>
                <a:off x="768485" y="291830"/>
                <a:ext cx="515566" cy="593387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de-DE" b="1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VI.</a:t>
                </a:r>
              </a:p>
            </p:txBody>
          </p:sp>
          <p:sp>
            <p:nvSpPr>
              <p:cNvPr id="40" name="Rechteck 39">
                <a:extLst>
                  <a:ext uri="{FF2B5EF4-FFF2-40B4-BE49-F238E27FC236}">
                    <a16:creationId xmlns:a16="http://schemas.microsoft.com/office/drawing/2014/main" id="{26CE7229-6393-FE2B-5767-BFAA425190B9}"/>
                  </a:ext>
                </a:extLst>
              </p:cNvPr>
              <p:cNvSpPr/>
              <p:nvPr/>
            </p:nvSpPr>
            <p:spPr>
              <a:xfrm>
                <a:off x="1269459" y="291829"/>
                <a:ext cx="1726659" cy="593387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de-DE" dirty="0">
                    <a:solidFill>
                      <a:schemeClr val="tx1"/>
                    </a:solidFill>
                    <a:cs typeface="Times New Roman" panose="02020603050405020304" pitchFamily="18" charset="0"/>
                  </a:rPr>
                  <a:t>Split into </a:t>
                </a:r>
                <a:r>
                  <a:rPr lang="de-DE" dirty="0" err="1">
                    <a:solidFill>
                      <a:schemeClr val="tx1"/>
                    </a:solidFill>
                    <a:cs typeface="Times New Roman" panose="02020603050405020304" pitchFamily="18" charset="0"/>
                  </a:rPr>
                  <a:t>words</a:t>
                </a:r>
                <a:endParaRPr lang="de-DE" dirty="0">
                  <a:solidFill>
                    <a:schemeClr val="tx1"/>
                  </a:solidFill>
                  <a:cs typeface="Times New Roman" panose="02020603050405020304" pitchFamily="18" charset="0"/>
                </a:endParaRPr>
              </a:p>
              <a:p>
                <a:r>
                  <a:rPr lang="de-DE" sz="1400" dirty="0">
                    <a:solidFill>
                      <a:schemeClr val="tx1"/>
                    </a:solidFill>
                    <a:cs typeface="Times New Roman" panose="02020603050405020304" pitchFamily="18" charset="0"/>
                  </a:rPr>
                  <a:t>Example: [</a:t>
                </a:r>
                <a:r>
                  <a:rPr lang="de-DE" sz="1400" dirty="0">
                    <a:solidFill>
                      <a:schemeClr val="tx1"/>
                    </a:solidFill>
                  </a:rPr>
                  <a:t>'</a:t>
                </a:r>
                <a:r>
                  <a:rPr lang="de-DE" sz="1400" dirty="0" err="1">
                    <a:solidFill>
                      <a:schemeClr val="tx1"/>
                    </a:solidFill>
                  </a:rPr>
                  <a:t>hello</a:t>
                </a:r>
                <a:r>
                  <a:rPr lang="de-DE" sz="1400" dirty="0">
                    <a:solidFill>
                      <a:schemeClr val="tx1"/>
                    </a:solidFill>
                  </a:rPr>
                  <a:t> there'</a:t>
                </a:r>
                <a:r>
                  <a:rPr lang="de-DE" sz="1400" dirty="0">
                    <a:solidFill>
                      <a:schemeClr val="tx1"/>
                    </a:solidFill>
                    <a:cs typeface="Times New Roman" panose="02020603050405020304" pitchFamily="18" charset="0"/>
                  </a:rPr>
                  <a:t>]</a:t>
                </a:r>
                <a:r>
                  <a:rPr lang="de-DE" sz="1400" dirty="0">
                    <a:solidFill>
                      <a:schemeClr val="tx1"/>
                    </a:solidFill>
                  </a:rPr>
                  <a:t> →</a:t>
                </a:r>
                <a:r>
                  <a:rPr lang="de-DE" sz="1400" dirty="0">
                    <a:solidFill>
                      <a:schemeClr val="tx1"/>
                    </a:solidFill>
                    <a:cs typeface="Times New Roman" panose="02020603050405020304" pitchFamily="18" charset="0"/>
                  </a:rPr>
                  <a:t> [</a:t>
                </a:r>
                <a:r>
                  <a:rPr lang="de-DE" sz="1400" dirty="0">
                    <a:solidFill>
                      <a:schemeClr val="tx1"/>
                    </a:solidFill>
                  </a:rPr>
                  <a:t>'</a:t>
                </a:r>
                <a:r>
                  <a:rPr lang="de-DE" sz="1400" dirty="0" err="1">
                    <a:solidFill>
                      <a:schemeClr val="tx1"/>
                    </a:solidFill>
                  </a:rPr>
                  <a:t>hello</a:t>
                </a:r>
                <a:r>
                  <a:rPr lang="de-DE" sz="1400" dirty="0">
                    <a:solidFill>
                      <a:schemeClr val="tx1"/>
                    </a:solidFill>
                  </a:rPr>
                  <a:t>', 'there'</a:t>
                </a:r>
                <a:r>
                  <a:rPr lang="de-DE" sz="1400" dirty="0">
                    <a:solidFill>
                      <a:schemeClr val="tx1"/>
                    </a:solidFill>
                    <a:cs typeface="Times New Roman" panose="02020603050405020304" pitchFamily="18" charset="0"/>
                  </a:rPr>
                  <a:t>]</a:t>
                </a:r>
                <a:endParaRPr lang="de-DE" dirty="0">
                  <a:cs typeface="Times New Roman" panose="02020603050405020304" pitchFamily="18" charset="0"/>
                </a:endParaRPr>
              </a:p>
            </p:txBody>
          </p:sp>
        </p:grpSp>
        <p:grpSp>
          <p:nvGrpSpPr>
            <p:cNvPr id="41" name="Gruppieren 40">
              <a:extLst>
                <a:ext uri="{FF2B5EF4-FFF2-40B4-BE49-F238E27FC236}">
                  <a16:creationId xmlns:a16="http://schemas.microsoft.com/office/drawing/2014/main" id="{AB51A291-0162-39D6-70F3-6A6244EE4F8A}"/>
                </a:ext>
              </a:extLst>
            </p:cNvPr>
            <p:cNvGrpSpPr/>
            <p:nvPr/>
          </p:nvGrpSpPr>
          <p:grpSpPr>
            <a:xfrm>
              <a:off x="768485" y="6839803"/>
              <a:ext cx="6270482" cy="724714"/>
              <a:chOff x="768485" y="291829"/>
              <a:chExt cx="2227633" cy="593388"/>
            </a:xfrm>
            <a:solidFill>
              <a:schemeClr val="accent1">
                <a:lumMod val="20000"/>
                <a:lumOff val="80000"/>
              </a:schemeClr>
            </a:solidFill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grpSpPr>
          <p:sp>
            <p:nvSpPr>
              <p:cNvPr id="42" name="Rechteck 41">
                <a:extLst>
                  <a:ext uri="{FF2B5EF4-FFF2-40B4-BE49-F238E27FC236}">
                    <a16:creationId xmlns:a16="http://schemas.microsoft.com/office/drawing/2014/main" id="{B140C15A-D529-5CB2-FDA7-26A540683669}"/>
                  </a:ext>
                </a:extLst>
              </p:cNvPr>
              <p:cNvSpPr/>
              <p:nvPr/>
            </p:nvSpPr>
            <p:spPr>
              <a:xfrm>
                <a:off x="768485" y="291830"/>
                <a:ext cx="515566" cy="593387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de-DE" b="1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XI.</a:t>
                </a:r>
              </a:p>
            </p:txBody>
          </p:sp>
          <p:sp>
            <p:nvSpPr>
              <p:cNvPr id="43" name="Rechteck 42">
                <a:extLst>
                  <a:ext uri="{FF2B5EF4-FFF2-40B4-BE49-F238E27FC236}">
                    <a16:creationId xmlns:a16="http://schemas.microsoft.com/office/drawing/2014/main" id="{C9209F77-0A29-377A-C9E6-A5FC3EFB3E9A}"/>
                  </a:ext>
                </a:extLst>
              </p:cNvPr>
              <p:cNvSpPr/>
              <p:nvPr/>
            </p:nvSpPr>
            <p:spPr>
              <a:xfrm>
                <a:off x="1269459" y="291829"/>
                <a:ext cx="1726659" cy="593387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de-DE" dirty="0">
                    <a:solidFill>
                      <a:schemeClr val="tx1"/>
                    </a:solidFill>
                    <a:cs typeface="Times New Roman" panose="02020603050405020304" pitchFamily="18" charset="0"/>
                  </a:rPr>
                  <a:t>Create </a:t>
                </a:r>
                <a:r>
                  <a:rPr lang="de-DE" dirty="0" err="1">
                    <a:solidFill>
                      <a:schemeClr val="tx1"/>
                    </a:solidFill>
                    <a:cs typeface="Times New Roman" panose="02020603050405020304" pitchFamily="18" charset="0"/>
                  </a:rPr>
                  <a:t>star</a:t>
                </a:r>
                <a:r>
                  <a:rPr lang="de-DE" dirty="0">
                    <a:solidFill>
                      <a:schemeClr val="tx1"/>
                    </a:solidFill>
                    <a:cs typeface="Times New Roman" panose="02020603050405020304" pitchFamily="18" charset="0"/>
                  </a:rPr>
                  <a:t> </a:t>
                </a:r>
                <a:r>
                  <a:rPr lang="de-DE" dirty="0" err="1">
                    <a:solidFill>
                      <a:schemeClr val="tx1"/>
                    </a:solidFill>
                    <a:cs typeface="Times New Roman" panose="02020603050405020304" pitchFamily="18" charset="0"/>
                  </a:rPr>
                  <a:t>rating</a:t>
                </a:r>
                <a:r>
                  <a:rPr lang="de-DE" dirty="0">
                    <a:solidFill>
                      <a:schemeClr val="tx1"/>
                    </a:solidFill>
                    <a:cs typeface="Times New Roman" panose="02020603050405020304" pitchFamily="18" charset="0"/>
                  </a:rPr>
                  <a:t> </a:t>
                </a:r>
                <a:r>
                  <a:rPr lang="de-DE" dirty="0" err="1">
                    <a:solidFill>
                      <a:schemeClr val="tx1"/>
                    </a:solidFill>
                    <a:cs typeface="Times New Roman" panose="02020603050405020304" pitchFamily="18" charset="0"/>
                  </a:rPr>
                  <a:t>classes</a:t>
                </a:r>
                <a:endParaRPr lang="de-DE" dirty="0">
                  <a:solidFill>
                    <a:schemeClr val="tx1"/>
                  </a:solidFill>
                  <a:cs typeface="Times New Roman" panose="02020603050405020304" pitchFamily="18" charset="0"/>
                </a:endParaRPr>
              </a:p>
              <a:p>
                <a:r>
                  <a:rPr lang="de-DE" sz="1400" dirty="0">
                    <a:solidFill>
                      <a:schemeClr val="tx1"/>
                    </a:solidFill>
                    <a:cs typeface="Times New Roman" panose="02020603050405020304" pitchFamily="18" charset="0"/>
                  </a:rPr>
                  <a:t>Example: 2 </a:t>
                </a:r>
                <a:r>
                  <a:rPr lang="de-DE" sz="1400" dirty="0">
                    <a:solidFill>
                      <a:schemeClr val="tx1"/>
                    </a:solidFill>
                  </a:rPr>
                  <a:t>→ 'Bad'; 3 → 'Bad'; 5 → 'Good'</a:t>
                </a:r>
                <a:endParaRPr lang="de-DE" sz="1400" dirty="0">
                  <a:solidFill>
                    <a:schemeClr val="tx1"/>
                  </a:solidFill>
                  <a:cs typeface="Times New Roman" panose="02020603050405020304" pitchFamily="18" charset="0"/>
                </a:endParaRPr>
              </a:p>
            </p:txBody>
          </p:sp>
        </p:grpSp>
        <p:grpSp>
          <p:nvGrpSpPr>
            <p:cNvPr id="44" name="Gruppieren 43">
              <a:extLst>
                <a:ext uri="{FF2B5EF4-FFF2-40B4-BE49-F238E27FC236}">
                  <a16:creationId xmlns:a16="http://schemas.microsoft.com/office/drawing/2014/main" id="{6A6B7693-2E4D-6EC7-B1D9-7E2EB02D42EA}"/>
                </a:ext>
              </a:extLst>
            </p:cNvPr>
            <p:cNvGrpSpPr/>
            <p:nvPr/>
          </p:nvGrpSpPr>
          <p:grpSpPr>
            <a:xfrm>
              <a:off x="768485" y="7711622"/>
              <a:ext cx="6270482" cy="724713"/>
              <a:chOff x="768485" y="291829"/>
              <a:chExt cx="2227633" cy="593388"/>
            </a:xfrm>
            <a:solidFill>
              <a:schemeClr val="accent1">
                <a:lumMod val="20000"/>
                <a:lumOff val="80000"/>
              </a:schemeClr>
            </a:solidFill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grpSpPr>
          <p:sp>
            <p:nvSpPr>
              <p:cNvPr id="45" name="Rechteck 44">
                <a:extLst>
                  <a:ext uri="{FF2B5EF4-FFF2-40B4-BE49-F238E27FC236}">
                    <a16:creationId xmlns:a16="http://schemas.microsoft.com/office/drawing/2014/main" id="{9B1CF161-ED30-396E-EB9E-45E277D5ED62}"/>
                  </a:ext>
                </a:extLst>
              </p:cNvPr>
              <p:cNvSpPr/>
              <p:nvPr/>
            </p:nvSpPr>
            <p:spPr>
              <a:xfrm>
                <a:off x="768485" y="291830"/>
                <a:ext cx="515566" cy="593387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de-DE" b="1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XII.</a:t>
                </a:r>
              </a:p>
            </p:txBody>
          </p:sp>
          <p:sp>
            <p:nvSpPr>
              <p:cNvPr id="46" name="Rechteck 45">
                <a:extLst>
                  <a:ext uri="{FF2B5EF4-FFF2-40B4-BE49-F238E27FC236}">
                    <a16:creationId xmlns:a16="http://schemas.microsoft.com/office/drawing/2014/main" id="{E7C78F1C-4592-BEF2-DCB0-EDDB1934A29D}"/>
                  </a:ext>
                </a:extLst>
              </p:cNvPr>
              <p:cNvSpPr/>
              <p:nvPr/>
            </p:nvSpPr>
            <p:spPr>
              <a:xfrm>
                <a:off x="1269459" y="291829"/>
                <a:ext cx="1726659" cy="593387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de-DE" dirty="0">
                    <a:solidFill>
                      <a:schemeClr val="tx1"/>
                    </a:solidFill>
                    <a:cs typeface="Times New Roman" panose="02020603050405020304" pitchFamily="18" charset="0"/>
                  </a:rPr>
                  <a:t>Create </a:t>
                </a:r>
                <a:r>
                  <a:rPr lang="de-DE" dirty="0" err="1">
                    <a:solidFill>
                      <a:schemeClr val="tx1"/>
                    </a:solidFill>
                    <a:cs typeface="Times New Roman" panose="02020603050405020304" pitchFamily="18" charset="0"/>
                  </a:rPr>
                  <a:t>dataset</a:t>
                </a:r>
                <a:r>
                  <a:rPr lang="de-DE" dirty="0">
                    <a:solidFill>
                      <a:schemeClr val="tx1"/>
                    </a:solidFill>
                    <a:cs typeface="Times New Roman" panose="02020603050405020304" pitchFamily="18" charset="0"/>
                  </a:rPr>
                  <a:t> with </a:t>
                </a:r>
                <a:r>
                  <a:rPr lang="de-DE" dirty="0" err="1">
                    <a:solidFill>
                      <a:schemeClr val="tx1"/>
                    </a:solidFill>
                    <a:cs typeface="Times New Roman" panose="02020603050405020304" pitchFamily="18" charset="0"/>
                  </a:rPr>
                  <a:t>rating</a:t>
                </a:r>
                <a:r>
                  <a:rPr lang="de-DE" dirty="0">
                    <a:solidFill>
                      <a:schemeClr val="tx1"/>
                    </a:solidFill>
                    <a:cs typeface="Times New Roman" panose="02020603050405020304" pitchFamily="18" charset="0"/>
                  </a:rPr>
                  <a:t> </a:t>
                </a:r>
                <a:r>
                  <a:rPr lang="de-DE" dirty="0" err="1">
                    <a:solidFill>
                      <a:schemeClr val="tx1"/>
                    </a:solidFill>
                    <a:cs typeface="Times New Roman" panose="02020603050405020304" pitchFamily="18" charset="0"/>
                  </a:rPr>
                  <a:t>classes</a:t>
                </a:r>
                <a:r>
                  <a:rPr lang="de-DE" dirty="0">
                    <a:solidFill>
                      <a:schemeClr val="tx1"/>
                    </a:solidFill>
                    <a:cs typeface="Times New Roman" panose="02020603050405020304" pitchFamily="18" charset="0"/>
                  </a:rPr>
                  <a:t> and </a:t>
                </a:r>
                <a:r>
                  <a:rPr lang="de-DE" dirty="0" err="1">
                    <a:solidFill>
                      <a:schemeClr val="tx1"/>
                    </a:solidFill>
                    <a:cs typeface="Times New Roman" panose="02020603050405020304" pitchFamily="18" charset="0"/>
                  </a:rPr>
                  <a:t>word</a:t>
                </a:r>
                <a:r>
                  <a:rPr lang="de-DE" dirty="0">
                    <a:solidFill>
                      <a:schemeClr val="tx1"/>
                    </a:solidFill>
                    <a:cs typeface="Times New Roman" panose="02020603050405020304" pitchFamily="18" charset="0"/>
                  </a:rPr>
                  <a:t> </a:t>
                </a:r>
                <a:r>
                  <a:rPr lang="de-DE" dirty="0" err="1">
                    <a:solidFill>
                      <a:schemeClr val="tx1"/>
                    </a:solidFill>
                    <a:cs typeface="Times New Roman" panose="02020603050405020304" pitchFamily="18" charset="0"/>
                  </a:rPr>
                  <a:t>stem</a:t>
                </a:r>
                <a:r>
                  <a:rPr lang="de-DE" dirty="0">
                    <a:solidFill>
                      <a:schemeClr val="tx1"/>
                    </a:solidFill>
                    <a:cs typeface="Times New Roman" panose="02020603050405020304" pitchFamily="18" charset="0"/>
                  </a:rPr>
                  <a:t> </a:t>
                </a:r>
                <a:r>
                  <a:rPr lang="de-DE" dirty="0" err="1">
                    <a:solidFill>
                      <a:schemeClr val="tx1"/>
                    </a:solidFill>
                    <a:cs typeface="Times New Roman" panose="02020603050405020304" pitchFamily="18" charset="0"/>
                  </a:rPr>
                  <a:t>strings</a:t>
                </a:r>
                <a:endParaRPr lang="de-DE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229162174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161</Words>
  <Application>Microsoft Office PowerPoint</Application>
  <PresentationFormat>Breitbild</PresentationFormat>
  <Paragraphs>33</Paragraphs>
  <Slides>1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4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</vt:i4>
      </vt:variant>
    </vt:vector>
  </HeadingPairs>
  <TitlesOfParts>
    <vt:vector size="6" baseType="lpstr">
      <vt:lpstr>Aptos</vt:lpstr>
      <vt:lpstr>Aptos Display</vt:lpstr>
      <vt:lpstr>Arial</vt:lpstr>
      <vt:lpstr>Times New Roman</vt:lpstr>
      <vt:lpstr>Office</vt:lpstr>
      <vt:lpstr>PowerPoint-Präsentation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Dominik Schulz</dc:creator>
  <cp:lastModifiedBy>Dominik Schulz</cp:lastModifiedBy>
  <cp:revision>7</cp:revision>
  <dcterms:created xsi:type="dcterms:W3CDTF">2026-10-23T13:12:08Z</dcterms:created>
  <dcterms:modified xsi:type="dcterms:W3CDTF">2026-10-26T14:58:19Z</dcterms:modified>
</cp:coreProperties>
</file>