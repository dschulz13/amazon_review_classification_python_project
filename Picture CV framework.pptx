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F52D9-9DC1-17EF-EDAE-B7FD62FF2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2A5543-982F-4574-6FCD-C284368EF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8EF741-4615-5E87-9863-67DCB55B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AD4262-585D-EDA5-3515-D4A1F1DF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7096C1-D03F-EB04-1BC3-D11E9B5F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38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5C21F-6EAC-3366-0B79-1D08F77D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8DC2E3-8F42-FDF2-3567-8E8B2781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DA2ED0-8449-D7D7-12F5-4FCACD92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CE086-A122-A2FF-9510-1AEF534D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DE5021-C46C-F61C-4133-2769885D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56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C6108-55A6-7426-26FF-841B2AE1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FCD0CE-2241-75D1-4AA0-142FE3D1F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ECB76-315D-5EDD-1154-EDDFBEFB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AEF688-1309-62FE-A6FD-2E0C1E572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C2EE38-2B85-E652-E75D-F5D61244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62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B0E266-0C87-605A-E8FE-8E59C2DC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295E94-22F5-F7F6-B1D5-F88F91497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86CAD8-47B7-E4BA-FE0B-EC1F46B01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98B8B1-F929-FA9E-1EF9-6371E51D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7DB827-DCBB-8BD7-FD60-274DF82C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D84454-1457-BDC6-629D-CEB0CC88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85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BF890-731E-A26B-B938-E6CB5891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8E2FFD-962B-8579-938A-94A8065D0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EFA97C-580B-2BB3-1A00-AADB5585A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14A5F6-F18A-C4E1-1B7B-E546D4320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6CEBA7-144A-9E54-7CB9-91C661C97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9D8F91-82A8-9845-E027-CEDD3E0D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AE538-C019-0671-7266-B0106A94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EB127F4-924A-71C9-8FD2-CD411425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65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F2441-340D-B14C-D493-C00B7F82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0411D9-E165-27FF-03F8-E2C6B5DC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C0B33F-2601-12BC-A902-96A11523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F0790E-184F-47CB-4605-1F55D8DA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96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D8F6E2-D2AB-CF22-1263-4F3A0665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2C75AF-9A63-215A-6BB7-74AEE229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22A8B9-24A9-7FB0-0FF4-E94D2FEC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41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537C7-5B47-D391-1CBE-D76E158E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B7D74F-10D5-D322-C143-A73F120A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7FB344-982B-C133-1EB6-D93DD1BEA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3ADE7C-5081-901E-96A6-C4E5A76B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6ECC79-2795-A945-EE00-B3B824CA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03E885-987B-54A4-D756-3E25D825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16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197C-827D-7243-1E6D-D17D3FC0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8CC7FF-A6A1-E25D-F3EC-AF7FC4FF6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CD8CB0-F44F-8E17-990A-03F5900DC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614B33-0C9B-47AF-10F5-6835CE45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46C332-26A6-507C-DEAF-94DC0A0D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8C1D7A-8604-0C6E-553D-AFF78873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61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E3E2E-EDB3-9A79-766C-FB6085A3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581476-96E3-3071-7FC4-BD92225BC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44349B-48A6-EB7B-E893-42084C69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DDCBCE-5DA0-2535-7DDD-E742FAE5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BE3B9-BAE8-F07C-EDA6-AAB5166C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74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D41715-E01F-E623-0309-E7FD0ECB5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4D6CBD-8939-6463-9AB8-8A7E2226D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4904F0-3719-151F-276F-D228C2D1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3860FA-6529-3D82-C17E-7604FB4D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0079D-84E8-5A82-C2FE-EAF6443B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56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47CFC57-AE85-72D6-EBEB-9C622737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D3DEB8-AE71-E582-8F3F-CA0C46E4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37EB2-2350-F51E-2056-182F7D1BB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2067C-9D5A-4985-9D7F-4C5D317BFC68}" type="datetimeFigureOut">
              <a:rPr lang="de-DE" smtClean="0"/>
              <a:t>26.10.2026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06E244-E24C-D52A-9DD4-5CCA4F34A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CA60F1-228B-985C-F9B8-6465D09BF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2869D-A6E2-48A3-B799-3D1430ADB1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00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BB3721C-EDD7-57E7-D976-CD88B1D21A56}"/>
              </a:ext>
            </a:extLst>
          </p:cNvPr>
          <p:cNvGrpSpPr/>
          <p:nvPr/>
        </p:nvGrpSpPr>
        <p:grpSpPr>
          <a:xfrm>
            <a:off x="301557" y="-28840"/>
            <a:ext cx="11128443" cy="4114457"/>
            <a:chOff x="301557" y="-28840"/>
            <a:chExt cx="11128443" cy="4114457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A5EDABD-518B-1CEB-02E7-AEC99A0079E2}"/>
                </a:ext>
              </a:extLst>
            </p:cNvPr>
            <p:cNvSpPr/>
            <p:nvPr/>
          </p:nvSpPr>
          <p:spPr>
            <a:xfrm>
              <a:off x="301557" y="136187"/>
              <a:ext cx="11128443" cy="3949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Bogen 32">
              <a:extLst>
                <a:ext uri="{FF2B5EF4-FFF2-40B4-BE49-F238E27FC236}">
                  <a16:creationId xmlns:a16="http://schemas.microsoft.com/office/drawing/2014/main" id="{7922F6A1-21E5-4302-600A-0FE9A23C6CD2}"/>
                </a:ext>
              </a:extLst>
            </p:cNvPr>
            <p:cNvSpPr/>
            <p:nvPr/>
          </p:nvSpPr>
          <p:spPr>
            <a:xfrm rot="6212833">
              <a:off x="7881467" y="-742739"/>
              <a:ext cx="2233136" cy="3660933"/>
            </a:xfrm>
            <a:prstGeom prst="arc">
              <a:avLst>
                <a:gd name="adj1" fmla="val 16200000"/>
                <a:gd name="adj2" fmla="val 21479892"/>
              </a:avLst>
            </a:prstGeom>
            <a:ln>
              <a:headEnd type="triangle" w="lg" len="med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E12AA6AE-F7AF-1E60-7DB1-1A303305B854}"/>
                </a:ext>
              </a:extLst>
            </p:cNvPr>
            <p:cNvGrpSpPr/>
            <p:nvPr/>
          </p:nvGrpSpPr>
          <p:grpSpPr>
            <a:xfrm>
              <a:off x="568341" y="365715"/>
              <a:ext cx="10770304" cy="3455630"/>
              <a:chOff x="568341" y="365715"/>
              <a:chExt cx="10770304" cy="3455630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FA2F5DEC-991B-FBBE-C5B1-0B59AAD74843}"/>
                  </a:ext>
                </a:extLst>
              </p:cNvPr>
              <p:cNvSpPr/>
              <p:nvPr/>
            </p:nvSpPr>
            <p:spPr>
              <a:xfrm>
                <a:off x="8717141" y="365715"/>
                <a:ext cx="2451370" cy="51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Test sample (11%)</a:t>
                </a:r>
              </a:p>
            </p:txBody>
          </p: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6E4EDCDF-75DC-350F-4CCC-FF5C18BB3551}"/>
                  </a:ext>
                </a:extLst>
              </p:cNvPr>
              <p:cNvGrpSpPr/>
              <p:nvPr/>
            </p:nvGrpSpPr>
            <p:grpSpPr>
              <a:xfrm>
                <a:off x="573931" y="365715"/>
                <a:ext cx="8015592" cy="993185"/>
                <a:chOff x="573931" y="395435"/>
                <a:chExt cx="7986409" cy="1535508"/>
              </a:xfrm>
            </p:grpSpPr>
            <p:sp>
              <p:nvSpPr>
                <p:cNvPr id="4" name="Rechteck 3">
                  <a:extLst>
                    <a:ext uri="{FF2B5EF4-FFF2-40B4-BE49-F238E27FC236}">
                      <a16:creationId xmlns:a16="http://schemas.microsoft.com/office/drawing/2014/main" id="{D58801C8-A738-CA96-5F29-FB87F0555F6A}"/>
                    </a:ext>
                  </a:extLst>
                </p:cNvPr>
                <p:cNvSpPr/>
                <p:nvPr/>
              </p:nvSpPr>
              <p:spPr>
                <a:xfrm>
                  <a:off x="573932" y="395435"/>
                  <a:ext cx="7986407" cy="7959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Training sample (89%)</a:t>
                  </a:r>
                </a:p>
              </p:txBody>
            </p:sp>
            <p:sp>
              <p:nvSpPr>
                <p:cNvPr id="6" name="Geschweifte Klammer rechts 5">
                  <a:extLst>
                    <a:ext uri="{FF2B5EF4-FFF2-40B4-BE49-F238E27FC236}">
                      <a16:creationId xmlns:a16="http://schemas.microsoft.com/office/drawing/2014/main" id="{286F4F78-CB16-F2AD-8596-BAD41B207A5A}"/>
                    </a:ext>
                  </a:extLst>
                </p:cNvPr>
                <p:cNvSpPr/>
                <p:nvPr/>
              </p:nvSpPr>
              <p:spPr>
                <a:xfrm rot="5400000">
                  <a:off x="4268010" y="-2361388"/>
                  <a:ext cx="598252" cy="7986409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E13F93A9-B564-7515-6BDD-11AED4267684}"/>
                  </a:ext>
                </a:extLst>
              </p:cNvPr>
              <p:cNvSpPr txBox="1"/>
              <p:nvPr/>
            </p:nvSpPr>
            <p:spPr>
              <a:xfrm>
                <a:off x="2128777" y="1428112"/>
                <a:ext cx="49003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/>
                  <a:t>5-fold CV (</a:t>
                </a:r>
                <a:r>
                  <a:rPr lang="de-DE" b="1" dirty="0" err="1"/>
                  <a:t>shuffled</a:t>
                </a:r>
                <a:r>
                  <a:rPr lang="de-DE" b="1" dirty="0"/>
                  <a:t>) for </a:t>
                </a:r>
                <a:r>
                  <a:rPr lang="de-DE" b="1" dirty="0" err="1"/>
                  <a:t>hyperparameters</a:t>
                </a:r>
                <a:endParaRPr lang="de-DE" b="1" dirty="0"/>
              </a:p>
            </p:txBody>
          </p: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6BE999FC-7B13-D6BF-C95F-C8E6037CF1F5}"/>
                  </a:ext>
                </a:extLst>
              </p:cNvPr>
              <p:cNvGrpSpPr/>
              <p:nvPr/>
            </p:nvGrpSpPr>
            <p:grpSpPr>
              <a:xfrm>
                <a:off x="573932" y="1866900"/>
                <a:ext cx="8010000" cy="514350"/>
                <a:chOff x="573932" y="2514600"/>
                <a:chExt cx="8010000" cy="91440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7" name="Rechteck 16">
                  <a:extLst>
                    <a:ext uri="{FF2B5EF4-FFF2-40B4-BE49-F238E27FC236}">
                      <a16:creationId xmlns:a16="http://schemas.microsoft.com/office/drawing/2014/main" id="{E0B5B67E-4B0D-8F7A-4656-2EAACF8CA0A4}"/>
                    </a:ext>
                  </a:extLst>
                </p:cNvPr>
                <p:cNvSpPr/>
                <p:nvPr/>
              </p:nvSpPr>
              <p:spPr>
                <a:xfrm>
                  <a:off x="573932" y="2514600"/>
                  <a:ext cx="1602000" cy="9144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553AFE44-7BB0-992A-CC0E-8E9277B40C4B}"/>
                    </a:ext>
                  </a:extLst>
                </p:cNvPr>
                <p:cNvSpPr/>
                <p:nvPr/>
              </p:nvSpPr>
              <p:spPr>
                <a:xfrm>
                  <a:off x="2175932" y="2514600"/>
                  <a:ext cx="1602000" cy="9144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22B7345A-0DA1-39B6-C993-05BC61536F5D}"/>
                    </a:ext>
                  </a:extLst>
                </p:cNvPr>
                <p:cNvSpPr/>
                <p:nvPr/>
              </p:nvSpPr>
              <p:spPr>
                <a:xfrm>
                  <a:off x="3777932" y="2514600"/>
                  <a:ext cx="1602000" cy="9144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20" name="Rechteck 19">
                  <a:extLst>
                    <a:ext uri="{FF2B5EF4-FFF2-40B4-BE49-F238E27FC236}">
                      <a16:creationId xmlns:a16="http://schemas.microsoft.com/office/drawing/2014/main" id="{99C764E5-E07B-7262-7F5F-AAD093F212BD}"/>
                    </a:ext>
                  </a:extLst>
                </p:cNvPr>
                <p:cNvSpPr/>
                <p:nvPr/>
              </p:nvSpPr>
              <p:spPr>
                <a:xfrm>
                  <a:off x="5379932" y="2514600"/>
                  <a:ext cx="1602000" cy="9144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21" name="Rechteck 20">
                  <a:extLst>
                    <a:ext uri="{FF2B5EF4-FFF2-40B4-BE49-F238E27FC236}">
                      <a16:creationId xmlns:a16="http://schemas.microsoft.com/office/drawing/2014/main" id="{DAF62687-67CE-7200-47D0-C4F807BCAF46}"/>
                    </a:ext>
                  </a:extLst>
                </p:cNvPr>
                <p:cNvSpPr/>
                <p:nvPr/>
              </p:nvSpPr>
              <p:spPr>
                <a:xfrm>
                  <a:off x="6981932" y="2514600"/>
                  <a:ext cx="1602000" cy="9144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Validation</a:t>
                  </a:r>
                </a:p>
              </p:txBody>
            </p:sp>
          </p:grpSp>
          <p:sp>
            <p:nvSpPr>
              <p:cNvPr id="24" name="Geschweifte Klammer rechts 23">
                <a:extLst>
                  <a:ext uri="{FF2B5EF4-FFF2-40B4-BE49-F238E27FC236}">
                    <a16:creationId xmlns:a16="http://schemas.microsoft.com/office/drawing/2014/main" id="{41EDAECF-8B0A-570E-2AC1-8161092DB0FD}"/>
                  </a:ext>
                </a:extLst>
              </p:cNvPr>
              <p:cNvSpPr/>
              <p:nvPr/>
            </p:nvSpPr>
            <p:spPr>
              <a:xfrm rot="5400000">
                <a:off x="3581658" y="-565784"/>
                <a:ext cx="386957" cy="641359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D0D01B8-150E-A3CF-F31B-A886C0380A72}"/>
                  </a:ext>
                </a:extLst>
              </p:cNvPr>
              <p:cNvSpPr txBox="1"/>
              <p:nvPr/>
            </p:nvSpPr>
            <p:spPr>
              <a:xfrm>
                <a:off x="1213414" y="2886077"/>
                <a:ext cx="51234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/>
                  <a:t>3-fold CV (</a:t>
                </a:r>
                <a:r>
                  <a:rPr lang="de-DE" b="1" dirty="0" err="1"/>
                  <a:t>shuffled</a:t>
                </a:r>
                <a:r>
                  <a:rPr lang="de-DE" b="1" dirty="0"/>
                  <a:t>) for </a:t>
                </a:r>
                <a:r>
                  <a:rPr lang="de-DE" b="1" dirty="0" err="1"/>
                  <a:t>probability</a:t>
                </a:r>
                <a:r>
                  <a:rPr lang="de-DE" b="1" dirty="0"/>
                  <a:t> </a:t>
                </a:r>
                <a:r>
                  <a:rPr lang="de-DE" b="1" dirty="0" err="1"/>
                  <a:t>threshold</a:t>
                </a:r>
                <a:endParaRPr lang="de-DE" b="1" dirty="0"/>
              </a:p>
            </p:txBody>
          </p:sp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7C21032B-FEE5-032A-8C1A-A49ABCE5D4E7}"/>
                  </a:ext>
                </a:extLst>
              </p:cNvPr>
              <p:cNvGrpSpPr/>
              <p:nvPr/>
            </p:nvGrpSpPr>
            <p:grpSpPr>
              <a:xfrm>
                <a:off x="568341" y="3306995"/>
                <a:ext cx="6400528" cy="514350"/>
                <a:chOff x="568341" y="3306995"/>
                <a:chExt cx="6400528" cy="51435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6" name="Rechteck 25">
                  <a:extLst>
                    <a:ext uri="{FF2B5EF4-FFF2-40B4-BE49-F238E27FC236}">
                      <a16:creationId xmlns:a16="http://schemas.microsoft.com/office/drawing/2014/main" id="{C95A54B9-76B3-6F28-51A1-17ECD31531CE}"/>
                    </a:ext>
                  </a:extLst>
                </p:cNvPr>
                <p:cNvSpPr/>
                <p:nvPr/>
              </p:nvSpPr>
              <p:spPr>
                <a:xfrm>
                  <a:off x="568341" y="3306995"/>
                  <a:ext cx="2134800" cy="51435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27" name="Rechteck 26">
                  <a:extLst>
                    <a:ext uri="{FF2B5EF4-FFF2-40B4-BE49-F238E27FC236}">
                      <a16:creationId xmlns:a16="http://schemas.microsoft.com/office/drawing/2014/main" id="{BA436F26-D697-4329-F0DF-31477506AD5F}"/>
                    </a:ext>
                  </a:extLst>
                </p:cNvPr>
                <p:cNvSpPr/>
                <p:nvPr/>
              </p:nvSpPr>
              <p:spPr>
                <a:xfrm>
                  <a:off x="2699269" y="3306995"/>
                  <a:ext cx="2134800" cy="51435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Train</a:t>
                  </a:r>
                </a:p>
              </p:txBody>
            </p:sp>
            <p:sp>
              <p:nvSpPr>
                <p:cNvPr id="28" name="Rechteck 27">
                  <a:extLst>
                    <a:ext uri="{FF2B5EF4-FFF2-40B4-BE49-F238E27FC236}">
                      <a16:creationId xmlns:a16="http://schemas.microsoft.com/office/drawing/2014/main" id="{598FAB74-421E-F617-D06B-6D5B9FFC4FB7}"/>
                    </a:ext>
                  </a:extLst>
                </p:cNvPr>
                <p:cNvSpPr/>
                <p:nvPr/>
              </p:nvSpPr>
              <p:spPr>
                <a:xfrm>
                  <a:off x="4834069" y="3306995"/>
                  <a:ext cx="2134800" cy="51435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Validation</a:t>
                  </a:r>
                </a:p>
              </p:txBody>
            </p:sp>
          </p:grpSp>
          <p:sp>
            <p:nvSpPr>
              <p:cNvPr id="31" name="Bogen 30">
                <a:extLst>
                  <a:ext uri="{FF2B5EF4-FFF2-40B4-BE49-F238E27FC236}">
                    <a16:creationId xmlns:a16="http://schemas.microsoft.com/office/drawing/2014/main" id="{B7DB6530-7C54-EE33-772B-72E03AD02C5C}"/>
                  </a:ext>
                </a:extLst>
              </p:cNvPr>
              <p:cNvSpPr/>
              <p:nvPr/>
            </p:nvSpPr>
            <p:spPr>
              <a:xfrm rot="6212833">
                <a:off x="6248888" y="655759"/>
                <a:ext cx="2233136" cy="3660933"/>
              </a:xfrm>
              <a:prstGeom prst="arc">
                <a:avLst>
                  <a:gd name="adj1" fmla="val 16200000"/>
                  <a:gd name="adj2" fmla="val 21479892"/>
                </a:avLst>
              </a:prstGeom>
              <a:ln>
                <a:headEnd type="triangle" w="lg" len="med"/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1A322C87-3351-18A3-7F35-22AB14F74313}"/>
                  </a:ext>
                </a:extLst>
              </p:cNvPr>
              <p:cNvSpPr txBox="1"/>
              <p:nvPr/>
            </p:nvSpPr>
            <p:spPr>
              <a:xfrm>
                <a:off x="6956944" y="2809133"/>
                <a:ext cx="2134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/>
                  <a:t>Pass </a:t>
                </a:r>
                <a:r>
                  <a:rPr lang="de-DE" sz="1400" dirty="0" err="1"/>
                  <a:t>identified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threshold</a:t>
                </a:r>
                <a:r>
                  <a:rPr lang="de-DE" sz="1400" dirty="0"/>
                  <a:t> to 5-fold CV </a:t>
                </a:r>
                <a:r>
                  <a:rPr lang="de-DE" sz="1400" dirty="0" err="1"/>
                  <a:t>training</a:t>
                </a:r>
                <a:r>
                  <a:rPr lang="de-DE" sz="1400" dirty="0"/>
                  <a:t> </a:t>
                </a:r>
                <a:r>
                  <a:rPr lang="de-DE" sz="1400" dirty="0" err="1"/>
                  <a:t>data</a:t>
                </a:r>
                <a:endParaRPr lang="de-DE" sz="1400" dirty="0"/>
              </a:p>
            </p:txBody>
          </p: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DA318D28-C1BA-850F-C3CC-A5340F33711F}"/>
                  </a:ext>
                </a:extLst>
              </p:cNvPr>
              <p:cNvSpPr txBox="1"/>
              <p:nvPr/>
            </p:nvSpPr>
            <p:spPr>
              <a:xfrm>
                <a:off x="8547006" y="1065865"/>
                <a:ext cx="279163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/>
                  <a:t>Pass </a:t>
                </a:r>
                <a:r>
                  <a:rPr lang="de-DE" sz="1400" dirty="0" err="1"/>
                  <a:t>identified</a:t>
                </a:r>
                <a:r>
                  <a:rPr lang="de-DE" sz="1400" dirty="0"/>
                  <a:t> </a:t>
                </a:r>
                <a:r>
                  <a:rPr lang="de-DE" sz="1400" dirty="0" err="1"/>
                  <a:t>hyperparameters</a:t>
                </a:r>
                <a:r>
                  <a:rPr lang="de-DE" sz="1400" dirty="0"/>
                  <a:t> to </a:t>
                </a:r>
                <a:r>
                  <a:rPr lang="de-DE" sz="1400" dirty="0" err="1"/>
                  <a:t>training</a:t>
                </a:r>
                <a:r>
                  <a:rPr lang="de-DE" sz="1400" dirty="0"/>
                  <a:t> sample and </a:t>
                </a:r>
                <a:r>
                  <a:rPr lang="de-DE" sz="1400" dirty="0" err="1"/>
                  <a:t>re-identify</a:t>
                </a:r>
                <a:r>
                  <a:rPr lang="de-DE" sz="1400" dirty="0"/>
                  <a:t> </a:t>
                </a:r>
                <a:r>
                  <a:rPr lang="de-DE" sz="1400" dirty="0" err="1"/>
                  <a:t>threshold</a:t>
                </a:r>
                <a:endParaRPr lang="de-DE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53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Breitbild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Schulz</dc:creator>
  <cp:lastModifiedBy>Dominik Schulz</cp:lastModifiedBy>
  <cp:revision>3</cp:revision>
  <dcterms:created xsi:type="dcterms:W3CDTF">2026-10-26T08:40:18Z</dcterms:created>
  <dcterms:modified xsi:type="dcterms:W3CDTF">2026-10-26T12:39:15Z</dcterms:modified>
</cp:coreProperties>
</file>